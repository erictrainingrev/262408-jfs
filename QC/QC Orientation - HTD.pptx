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embedTrueTypeFonts="1" saveSubsetFonts="1" autoCompressPictures="0">
  <p:sldMasterIdLst>
    <p:sldMasterId id="2147483648" r:id="rId4"/>
  </p:sldMasterIdLst>
  <p:notesMasterIdLst>
    <p:notesMasterId r:id="rId24"/>
  </p:notesMasterIdLst>
  <p:sldIdLst>
    <p:sldId id="256" r:id="rId5"/>
    <p:sldId id="303" r:id="rId6"/>
    <p:sldId id="304" r:id="rId7"/>
    <p:sldId id="282" r:id="rId8"/>
    <p:sldId id="287" r:id="rId9"/>
    <p:sldId id="288" r:id="rId10"/>
    <p:sldId id="286" r:id="rId11"/>
    <p:sldId id="283" r:id="rId12"/>
    <p:sldId id="280" r:id="rId13"/>
    <p:sldId id="300" r:id="rId14"/>
    <p:sldId id="302" r:id="rId15"/>
    <p:sldId id="294" r:id="rId16"/>
    <p:sldId id="295" r:id="rId17"/>
    <p:sldId id="301" r:id="rId18"/>
    <p:sldId id="275" r:id="rId19"/>
    <p:sldId id="276" r:id="rId20"/>
    <p:sldId id="278" r:id="rId21"/>
    <p:sldId id="259" r:id="rId22"/>
    <p:sldId id="260" r:id="rId23"/>
  </p:sldIdLst>
  <p:sldSz cx="9144000" cy="6858000" type="screen4x3"/>
  <p:notesSz cx="7010400" cy="9296400"/>
  <p:embeddedFontLst>
    <p:embeddedFont>
      <p:font typeface="Consolas" panose="020B0609020204030204" pitchFamily="49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176">
          <p15:clr>
            <a:srgbClr val="A4A3A4"/>
          </p15:clr>
        </p15:guide>
        <p15:guide id="2" orient="horz" pos="763">
          <p15:clr>
            <a:srgbClr val="A4A3A4"/>
          </p15:clr>
        </p15:guide>
        <p15:guide id="3" orient="horz" pos="288">
          <p15:clr>
            <a:srgbClr val="A4A3A4"/>
          </p15:clr>
        </p15:guide>
        <p15:guide id="4" orient="horz" pos="708">
          <p15:clr>
            <a:srgbClr val="A4A3A4"/>
          </p15:clr>
        </p15:guide>
        <p15:guide id="5" pos="240">
          <p15:clr>
            <a:srgbClr val="A4A3A4"/>
          </p15:clr>
        </p15:guide>
        <p15:guide id="6" pos="5035">
          <p15:clr>
            <a:srgbClr val="A4A3A4"/>
          </p15:clr>
        </p15:guide>
        <p15:guide id="7" pos="3437">
          <p15:clr>
            <a:srgbClr val="A4A3A4"/>
          </p15:clr>
        </p15:guide>
        <p15:guide id="8" pos="3495">
          <p15:clr>
            <a:srgbClr val="A4A3A4"/>
          </p15:clr>
        </p15:guide>
        <p15:guide id="9" pos="1825">
          <p15:clr>
            <a:srgbClr val="A4A3A4"/>
          </p15:clr>
        </p15:guide>
        <p15:guide id="10" pos="1882">
          <p15:clr>
            <a:srgbClr val="A4A3A4"/>
          </p15:clr>
        </p15:guide>
        <p15:guide id="11" pos="3399">
          <p15:clr>
            <a:srgbClr val="A4A3A4"/>
          </p15:clr>
        </p15:guide>
        <p15:guide id="12" pos="2122">
          <p15:clr>
            <a:srgbClr val="A4A3A4"/>
          </p15:clr>
        </p15:guide>
        <p15:guide id="13" orient="horz" pos="765">
          <p15:clr>
            <a:srgbClr val="A4A3A4"/>
          </p15:clr>
        </p15:guide>
        <p15:guide id="14" pos="2880">
          <p15:clr>
            <a:srgbClr val="A4A3A4"/>
          </p15:clr>
        </p15:guide>
        <p15:guide id="15" pos="1440">
          <p15:clr>
            <a:srgbClr val="A4A3A4"/>
          </p15:clr>
        </p15:guide>
        <p15:guide id="16" pos="43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02">
          <p15:clr>
            <a:srgbClr val="A4A3A4"/>
          </p15:clr>
        </p15:guide>
        <p15:guide id="2" pos="2282">
          <p15:clr>
            <a:srgbClr val="A4A3A4"/>
          </p15:clr>
        </p15:guide>
        <p15:guide id="3" orient="horz" pos="2928">
          <p15:clr>
            <a:srgbClr val="A4A3A4"/>
          </p15:clr>
        </p15:guide>
        <p15:guide id="4" pos="2208">
          <p15:clr>
            <a:srgbClr val="A4A3A4"/>
          </p15:clr>
        </p15:guide>
      </p15:notesGuideLst>
    </p:ext>
    <p:ext uri="http://customooxmlschemas.google.com/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go="http://customooxmlschemas.google.com/" xmlns="" r:id="rId47" roundtripDataSignature="AMtx7mhnJMo6/gy4ofhSz2aM6kNArEMV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E525F3-94B0-32F2-9B02-B77A2CBCFD6B}" v="9" dt="2026-06-12T11:36:42.2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4176"/>
        <p:guide orient="horz" pos="763"/>
        <p:guide orient="horz" pos="288"/>
        <p:guide orient="horz" pos="708"/>
        <p:guide pos="240"/>
        <p:guide pos="5035"/>
        <p:guide pos="3437"/>
        <p:guide pos="3495"/>
        <p:guide pos="1825"/>
        <p:guide pos="1882"/>
        <p:guide pos="3399"/>
        <p:guide pos="2122"/>
        <p:guide orient="horz" pos="765"/>
        <p:guide pos="2880"/>
        <p:guide pos="1440"/>
        <p:guide pos="432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002"/>
        <p:guide pos="2282"/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2.fntdata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47" Type="http://customschemas.google.com/relationships/presentationmetadata" Target="metadata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1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4.fntdata"/><Relationship Id="rId49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52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3.fntdata"/><Relationship Id="rId48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0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70938" y="0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8829965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70938" y="8829965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QC = Quality Control, we assess associates throughout training to make sure everyone is keeping up</a:t>
            </a:r>
            <a:endParaRPr/>
          </a:p>
        </p:txBody>
      </p:sp>
      <p:sp>
        <p:nvSpPr>
          <p:cNvPr id="210" name="Google Shape;21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Make sure to emphasize the importance of understanding why and answer is good, average, or poor.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491549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Make sure to explain the "reasons", not just mention them, and reinforce the importance of understand "why" answers are good, average, or poor.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612760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Make sure to explain the "reasons", not just mention them, and reinforce the importance of understand "why" answers are good, average, or poor.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863213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Make sure to explain the "reasons", not just mention them, and reinforce the importance of understand "why" answers are good, average, or poor.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83849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*I ask associates to read this themselves, while reading it in my head to gauge the time. (Thomas)</a:t>
            </a:r>
          </a:p>
          <a:p>
            <a:endParaRPr lang="en-US"/>
          </a:p>
          <a:p>
            <a:r>
              <a:rPr lang="en-US"/>
              <a:t>Tell why this a good answer. Not just long, but it includes 1) definition, 2) expanded explanation, 3) implementation, 4) example</a:t>
            </a:r>
          </a:p>
          <a:p>
            <a:r>
              <a:rPr lang="en-US"/>
              <a:t>Reiterate that these are all "layers" from the previously mentioned Layers of Knowledge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583403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-mention that there could be edge cases in unseen test cases, so make sure that the solution is robust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480087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-mention that there could be edge cases in unseen test cases, so make sure that the solution is robust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679822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Mention they’re timed, and to wait until instructed to start!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358517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Mention they’re timed, and to wait until instructed to start!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358517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Reiterate the importance of functionality, not just written code. Again, explain MVP and introduce stretch goal concept</a:t>
            </a:r>
          </a:p>
          <a:p>
            <a:r>
              <a:rPr lang="en-US"/>
              <a:t>Clearly explain the </a:t>
            </a:r>
            <a:r>
              <a:rPr lang="en-US" err="1"/>
              <a:t>mvp</a:t>
            </a:r>
            <a:r>
              <a:rPr lang="en-US"/>
              <a:t> first then stretch goals both while coding and presenting</a:t>
            </a:r>
          </a:p>
          <a:p>
            <a:endParaRPr lang="en-US"/>
          </a:p>
          <a:p>
            <a:r>
              <a:rPr lang="en-US"/>
              <a:t>Retro helps us understand what went wrong, and helps us better gauge associates that lack functionality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105816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Make sure to reiterate that associate reflection on their QC performance is integral in improving. </a:t>
            </a:r>
          </a:p>
          <a:p>
            <a:r>
              <a:rPr lang="en-US"/>
              <a:t>Being told you did well or poor doesn't help if you don't know why!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533050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/>
              <a:t>If poor performances are becoming the norm, your trainer will reach out to discuss ways you can improve.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707577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Regular study of concepts. Prepare answers. Practice saying answers.</a:t>
            </a:r>
          </a:p>
          <a:p>
            <a:endParaRPr lang="en-US"/>
          </a:p>
          <a:p>
            <a:r>
              <a:rPr lang="en-US"/>
              <a:t>Regular coding practice. Debugging and fixing errors will help cement details in your mind.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134615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indent="0"/>
            <a:r>
              <a:rPr lang="en-US"/>
              <a:t>When saying, "ASK", I like to make sure to mention that they are in charge of their own learning. </a:t>
            </a:r>
          </a:p>
          <a:p>
            <a:pPr marL="0" indent="0"/>
            <a:r>
              <a:rPr lang="en-US"/>
              <a:t>If they don't know and don't ask, it is on them. Be proactive instead of reactive in their learning.</a:t>
            </a:r>
          </a:p>
          <a:p>
            <a:pPr marL="0" indent="0"/>
            <a:endParaRPr lang="en-US"/>
          </a:p>
          <a:p>
            <a:pPr marL="0" indent="0"/>
            <a:r>
              <a:rPr lang="en-US"/>
              <a:t>Make sure to explain the importance of all 5 bullets.</a:t>
            </a:r>
          </a:p>
        </p:txBody>
      </p:sp>
      <p:sp>
        <p:nvSpPr>
          <p:cNvPr id="277" name="Google Shape;27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7"/>
          <p:cNvPicPr preferRelativeResize="0"/>
          <p:nvPr/>
        </p:nvPicPr>
        <p:blipFill rotWithShape="1">
          <a:blip r:embed="rId2">
            <a:alphaModFix/>
          </a:blip>
          <a:srcRect t="33848" b="649"/>
          <a:stretch/>
        </p:blipFill>
        <p:spPr>
          <a:xfrm>
            <a:off x="-1" y="0"/>
            <a:ext cx="9144002" cy="503007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" name="Google Shape;35;p7"/>
          <p:cNvGrpSpPr/>
          <p:nvPr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36" name="Google Shape;36;p7"/>
            <p:cNvSpPr/>
            <p:nvPr/>
          </p:nvSpPr>
          <p:spPr>
            <a:xfrm>
              <a:off x="2814452" y="5818063"/>
              <a:ext cx="523694" cy="508514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7"/>
            <p:cNvSpPr/>
            <p:nvPr/>
          </p:nvSpPr>
          <p:spPr>
            <a:xfrm>
              <a:off x="346717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7"/>
            <p:cNvSpPr/>
            <p:nvPr/>
          </p:nvSpPr>
          <p:spPr>
            <a:xfrm>
              <a:off x="4041148" y="5818063"/>
              <a:ext cx="541720" cy="508514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7"/>
            <p:cNvSpPr/>
            <p:nvPr/>
          </p:nvSpPr>
          <p:spPr>
            <a:xfrm>
              <a:off x="4582868" y="5818063"/>
              <a:ext cx="608130" cy="508514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7"/>
            <p:cNvSpPr/>
            <p:nvPr/>
          </p:nvSpPr>
          <p:spPr>
            <a:xfrm>
              <a:off x="5169177" y="5818063"/>
              <a:ext cx="555002" cy="508514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7"/>
            <p:cNvSpPr/>
            <p:nvPr/>
          </p:nvSpPr>
          <p:spPr>
            <a:xfrm>
              <a:off x="5831384" y="5818063"/>
              <a:ext cx="541720" cy="521796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7"/>
            <p:cNvSpPr/>
            <p:nvPr/>
          </p:nvSpPr>
          <p:spPr>
            <a:xfrm>
              <a:off x="6530592" y="5818063"/>
              <a:ext cx="521796" cy="508514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7"/>
            <p:cNvSpPr/>
            <p:nvPr/>
          </p:nvSpPr>
          <p:spPr>
            <a:xfrm>
              <a:off x="718331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7"/>
            <p:cNvSpPr/>
            <p:nvPr/>
          </p:nvSpPr>
          <p:spPr>
            <a:xfrm>
              <a:off x="4647381" y="5515421"/>
              <a:ext cx="91077" cy="87282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7"/>
            <p:cNvSpPr/>
            <p:nvPr/>
          </p:nvSpPr>
          <p:spPr>
            <a:xfrm>
              <a:off x="4937689" y="5235549"/>
              <a:ext cx="130923" cy="157487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7"/>
            <p:cNvSpPr/>
            <p:nvPr/>
          </p:nvSpPr>
          <p:spPr>
            <a:xfrm>
              <a:off x="5278280" y="5018292"/>
              <a:ext cx="132821" cy="243821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7"/>
            <p:cNvSpPr/>
            <p:nvPr/>
          </p:nvSpPr>
          <p:spPr>
            <a:xfrm>
              <a:off x="5649230" y="4842779"/>
              <a:ext cx="112898" cy="335847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7"/>
            <p:cNvSpPr/>
            <p:nvPr/>
          </p:nvSpPr>
          <p:spPr>
            <a:xfrm>
              <a:off x="6026821" y="4720394"/>
              <a:ext cx="104359" cy="420283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7"/>
            <p:cNvSpPr/>
            <p:nvPr/>
          </p:nvSpPr>
          <p:spPr>
            <a:xfrm>
              <a:off x="6384489" y="4647343"/>
              <a:ext cx="162232" cy="497129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7"/>
            <p:cNvSpPr/>
            <p:nvPr/>
          </p:nvSpPr>
          <p:spPr>
            <a:xfrm>
              <a:off x="6733618" y="4625522"/>
              <a:ext cx="241924" cy="56828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7"/>
            <p:cNvSpPr/>
            <p:nvPr/>
          </p:nvSpPr>
          <p:spPr>
            <a:xfrm>
              <a:off x="7077055" y="4665368"/>
              <a:ext cx="333950" cy="621412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7"/>
            <p:cNvSpPr/>
            <p:nvPr/>
          </p:nvSpPr>
          <p:spPr>
            <a:xfrm>
              <a:off x="7414800" y="4764984"/>
              <a:ext cx="430719" cy="659361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7"/>
            <p:cNvSpPr/>
            <p:nvPr/>
          </p:nvSpPr>
          <p:spPr>
            <a:xfrm>
              <a:off x="7730724" y="4924369"/>
              <a:ext cx="543617" cy="680232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" name="Google Shape;54;p7"/>
          <p:cNvSpPr txBox="1">
            <a:spLocks noGrp="1"/>
          </p:cNvSpPr>
          <p:nvPr>
            <p:ph type="ctrTitle"/>
          </p:nvPr>
        </p:nvSpPr>
        <p:spPr>
          <a:xfrm>
            <a:off x="496177" y="320634"/>
            <a:ext cx="6807148" cy="2543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  <a:defRPr sz="4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560"/>
              </a:spcBef>
              <a:spcAft>
                <a:spcPts val="0"/>
              </a:spcAft>
              <a:buSzPts val="2800"/>
              <a:buNone/>
              <a:defRPr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spcBef>
                <a:spcPts val="480"/>
              </a:spcBef>
              <a:spcAft>
                <a:spcPts val="0"/>
              </a:spcAft>
              <a:buSzPts val="2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SzPts val="24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9"/>
          <p:cNvPicPr preferRelativeResize="0"/>
          <p:nvPr/>
        </p:nvPicPr>
        <p:blipFill rotWithShape="1">
          <a:blip r:embed="rId2">
            <a:alphaModFix/>
          </a:blip>
          <a:srcRect t="33085" b="1379"/>
          <a:stretch/>
        </p:blipFill>
        <p:spPr>
          <a:xfrm rot="10800000" flipH="1">
            <a:off x="0" y="0"/>
            <a:ext cx="9144000" cy="503007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2" name="Google Shape;62;p9"/>
          <p:cNvGrpSpPr/>
          <p:nvPr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63" name="Google Shape;63;p9"/>
            <p:cNvSpPr/>
            <p:nvPr/>
          </p:nvSpPr>
          <p:spPr>
            <a:xfrm>
              <a:off x="2814452" y="5818063"/>
              <a:ext cx="523694" cy="508514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9"/>
            <p:cNvSpPr/>
            <p:nvPr/>
          </p:nvSpPr>
          <p:spPr>
            <a:xfrm>
              <a:off x="346717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9"/>
            <p:cNvSpPr/>
            <p:nvPr/>
          </p:nvSpPr>
          <p:spPr>
            <a:xfrm>
              <a:off x="4041148" y="5818063"/>
              <a:ext cx="541720" cy="508514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9"/>
            <p:cNvSpPr/>
            <p:nvPr/>
          </p:nvSpPr>
          <p:spPr>
            <a:xfrm>
              <a:off x="4582868" y="5818063"/>
              <a:ext cx="608130" cy="508514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9"/>
            <p:cNvSpPr/>
            <p:nvPr/>
          </p:nvSpPr>
          <p:spPr>
            <a:xfrm>
              <a:off x="5169177" y="5818063"/>
              <a:ext cx="555002" cy="508514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9"/>
            <p:cNvSpPr/>
            <p:nvPr/>
          </p:nvSpPr>
          <p:spPr>
            <a:xfrm>
              <a:off x="5831384" y="5818063"/>
              <a:ext cx="541720" cy="521796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9"/>
            <p:cNvSpPr/>
            <p:nvPr/>
          </p:nvSpPr>
          <p:spPr>
            <a:xfrm>
              <a:off x="6530592" y="5818063"/>
              <a:ext cx="521796" cy="508514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9"/>
            <p:cNvSpPr/>
            <p:nvPr/>
          </p:nvSpPr>
          <p:spPr>
            <a:xfrm>
              <a:off x="718331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9"/>
            <p:cNvSpPr/>
            <p:nvPr/>
          </p:nvSpPr>
          <p:spPr>
            <a:xfrm>
              <a:off x="4647381" y="5515421"/>
              <a:ext cx="91077" cy="87282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9"/>
            <p:cNvSpPr/>
            <p:nvPr/>
          </p:nvSpPr>
          <p:spPr>
            <a:xfrm>
              <a:off x="4937689" y="5235549"/>
              <a:ext cx="130923" cy="157487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9"/>
            <p:cNvSpPr/>
            <p:nvPr/>
          </p:nvSpPr>
          <p:spPr>
            <a:xfrm>
              <a:off x="5278280" y="5018292"/>
              <a:ext cx="132821" cy="243821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9"/>
            <p:cNvSpPr/>
            <p:nvPr/>
          </p:nvSpPr>
          <p:spPr>
            <a:xfrm>
              <a:off x="5649230" y="4842779"/>
              <a:ext cx="112898" cy="335847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9"/>
            <p:cNvSpPr/>
            <p:nvPr/>
          </p:nvSpPr>
          <p:spPr>
            <a:xfrm>
              <a:off x="6026821" y="4720394"/>
              <a:ext cx="104359" cy="420283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9"/>
            <p:cNvSpPr/>
            <p:nvPr/>
          </p:nvSpPr>
          <p:spPr>
            <a:xfrm>
              <a:off x="6384489" y="4647343"/>
              <a:ext cx="162232" cy="497129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9"/>
            <p:cNvSpPr/>
            <p:nvPr/>
          </p:nvSpPr>
          <p:spPr>
            <a:xfrm>
              <a:off x="6733618" y="4625522"/>
              <a:ext cx="241924" cy="56828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9"/>
            <p:cNvSpPr/>
            <p:nvPr/>
          </p:nvSpPr>
          <p:spPr>
            <a:xfrm>
              <a:off x="7077055" y="4665368"/>
              <a:ext cx="333950" cy="621412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9"/>
            <p:cNvSpPr/>
            <p:nvPr/>
          </p:nvSpPr>
          <p:spPr>
            <a:xfrm>
              <a:off x="7414800" y="4764984"/>
              <a:ext cx="430719" cy="659361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9"/>
            <p:cNvSpPr/>
            <p:nvPr/>
          </p:nvSpPr>
          <p:spPr>
            <a:xfrm>
              <a:off x="7730724" y="4924369"/>
              <a:ext cx="543617" cy="680232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1" name="Google Shape;81;p9"/>
          <p:cNvSpPr txBox="1">
            <a:spLocks noGrp="1"/>
          </p:cNvSpPr>
          <p:nvPr>
            <p:ph type="ctrTitle"/>
          </p:nvPr>
        </p:nvSpPr>
        <p:spPr>
          <a:xfrm>
            <a:off x="496177" y="320634"/>
            <a:ext cx="6807148" cy="2543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9"/>
          <p:cNvSpPr txBox="1"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560"/>
              </a:spcBef>
              <a:spcAft>
                <a:spcPts val="0"/>
              </a:spcAft>
              <a:buSzPts val="2800"/>
              <a:buNone/>
              <a:defRPr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spcBef>
                <a:spcPts val="480"/>
              </a:spcBef>
              <a:spcAft>
                <a:spcPts val="0"/>
              </a:spcAft>
              <a:buSzPts val="2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">
  <p:cSld name="section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" name="Google Shape;85;p10"/>
          <p:cNvPicPr preferRelativeResize="0"/>
          <p:nvPr/>
        </p:nvPicPr>
        <p:blipFill rotWithShape="1">
          <a:blip r:embed="rId2">
            <a:alphaModFix/>
          </a:blip>
          <a:srcRect t="67499" b="6701"/>
          <a:stretch/>
        </p:blipFill>
        <p:spPr>
          <a:xfrm rot="10800000" flipH="1">
            <a:off x="0" y="1740436"/>
            <a:ext cx="9144000" cy="1502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0"/>
          <p:cNvPicPr preferRelativeResize="0"/>
          <p:nvPr/>
        </p:nvPicPr>
        <p:blipFill rotWithShape="1">
          <a:blip r:embed="rId3">
            <a:alphaModFix/>
          </a:blip>
          <a:srcRect t="24620" b="16130"/>
          <a:stretch/>
        </p:blipFill>
        <p:spPr>
          <a:xfrm flipH="1">
            <a:off x="2766" y="3242663"/>
            <a:ext cx="9144000" cy="3615334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0"/>
          <p:cNvSpPr/>
          <p:nvPr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8" name="Google Shape;88;p10"/>
          <p:cNvGrpSpPr/>
          <p:nvPr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89" name="Google Shape;89;p10"/>
            <p:cNvSpPr/>
            <p:nvPr/>
          </p:nvSpPr>
          <p:spPr>
            <a:xfrm>
              <a:off x="2814452" y="5818063"/>
              <a:ext cx="523694" cy="508514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10"/>
            <p:cNvSpPr/>
            <p:nvPr/>
          </p:nvSpPr>
          <p:spPr>
            <a:xfrm>
              <a:off x="346717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10"/>
            <p:cNvSpPr/>
            <p:nvPr/>
          </p:nvSpPr>
          <p:spPr>
            <a:xfrm>
              <a:off x="4041148" y="5818063"/>
              <a:ext cx="541720" cy="508514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10"/>
            <p:cNvSpPr/>
            <p:nvPr/>
          </p:nvSpPr>
          <p:spPr>
            <a:xfrm>
              <a:off x="4582868" y="5818063"/>
              <a:ext cx="608130" cy="508514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10"/>
            <p:cNvSpPr/>
            <p:nvPr/>
          </p:nvSpPr>
          <p:spPr>
            <a:xfrm>
              <a:off x="5169177" y="5818063"/>
              <a:ext cx="555002" cy="508514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10"/>
            <p:cNvSpPr/>
            <p:nvPr/>
          </p:nvSpPr>
          <p:spPr>
            <a:xfrm>
              <a:off x="5831384" y="5818063"/>
              <a:ext cx="541720" cy="521796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10"/>
            <p:cNvSpPr/>
            <p:nvPr/>
          </p:nvSpPr>
          <p:spPr>
            <a:xfrm>
              <a:off x="6530592" y="5818063"/>
              <a:ext cx="521796" cy="508514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10"/>
            <p:cNvSpPr/>
            <p:nvPr/>
          </p:nvSpPr>
          <p:spPr>
            <a:xfrm>
              <a:off x="718331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10"/>
            <p:cNvSpPr/>
            <p:nvPr/>
          </p:nvSpPr>
          <p:spPr>
            <a:xfrm>
              <a:off x="4647381" y="5515421"/>
              <a:ext cx="91077" cy="87282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10"/>
            <p:cNvSpPr/>
            <p:nvPr/>
          </p:nvSpPr>
          <p:spPr>
            <a:xfrm>
              <a:off x="4937689" y="5235549"/>
              <a:ext cx="130923" cy="157487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10"/>
            <p:cNvSpPr/>
            <p:nvPr/>
          </p:nvSpPr>
          <p:spPr>
            <a:xfrm>
              <a:off x="5278280" y="5018292"/>
              <a:ext cx="132821" cy="243821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10"/>
            <p:cNvSpPr/>
            <p:nvPr/>
          </p:nvSpPr>
          <p:spPr>
            <a:xfrm>
              <a:off x="5649230" y="4842779"/>
              <a:ext cx="112898" cy="335847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10"/>
            <p:cNvSpPr/>
            <p:nvPr/>
          </p:nvSpPr>
          <p:spPr>
            <a:xfrm>
              <a:off x="6026821" y="4720394"/>
              <a:ext cx="104359" cy="420283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10"/>
            <p:cNvSpPr/>
            <p:nvPr/>
          </p:nvSpPr>
          <p:spPr>
            <a:xfrm>
              <a:off x="6384489" y="4647343"/>
              <a:ext cx="162232" cy="497129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10"/>
            <p:cNvSpPr/>
            <p:nvPr/>
          </p:nvSpPr>
          <p:spPr>
            <a:xfrm>
              <a:off x="6733618" y="4625522"/>
              <a:ext cx="241924" cy="56828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10"/>
            <p:cNvSpPr/>
            <p:nvPr/>
          </p:nvSpPr>
          <p:spPr>
            <a:xfrm>
              <a:off x="7077055" y="4665368"/>
              <a:ext cx="333950" cy="621412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10"/>
            <p:cNvSpPr/>
            <p:nvPr/>
          </p:nvSpPr>
          <p:spPr>
            <a:xfrm>
              <a:off x="7414800" y="4764984"/>
              <a:ext cx="430719" cy="659361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10"/>
            <p:cNvSpPr/>
            <p:nvPr/>
          </p:nvSpPr>
          <p:spPr>
            <a:xfrm>
              <a:off x="7730724" y="4924369"/>
              <a:ext cx="543617" cy="680232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7" name="Google Shape;107;p10"/>
          <p:cNvSpPr txBox="1">
            <a:spLocks noGrp="1"/>
          </p:cNvSpPr>
          <p:nvPr>
            <p:ph type="body" idx="1"/>
          </p:nvPr>
        </p:nvSpPr>
        <p:spPr>
          <a:xfrm>
            <a:off x="323135" y="1846263"/>
            <a:ext cx="8441453" cy="1241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4000"/>
              <a:buNone/>
              <a:defRPr sz="4000" b="1">
                <a:solidFill>
                  <a:schemeClr val="lt1"/>
                </a:solidFill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5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2">
  <p:cSld name="section 2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1"/>
          <p:cNvPicPr preferRelativeResize="0"/>
          <p:nvPr/>
        </p:nvPicPr>
        <p:blipFill rotWithShape="1">
          <a:blip r:embed="rId2">
            <a:alphaModFix/>
          </a:blip>
          <a:srcRect l="6614" t="2065" r="80083" b="1471"/>
          <a:stretch/>
        </p:blipFill>
        <p:spPr>
          <a:xfrm rot="5400000">
            <a:off x="3820885" y="-2080448"/>
            <a:ext cx="1502227" cy="914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1"/>
          <p:cNvPicPr preferRelativeResize="0"/>
          <p:nvPr/>
        </p:nvPicPr>
        <p:blipFill rotWithShape="1">
          <a:blip r:embed="rId3">
            <a:alphaModFix/>
          </a:blip>
          <a:srcRect t="20282" b="20282"/>
          <a:stretch/>
        </p:blipFill>
        <p:spPr>
          <a:xfrm>
            <a:off x="0" y="3242662"/>
            <a:ext cx="9144000" cy="3623223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1"/>
          <p:cNvSpPr/>
          <p:nvPr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2" name="Google Shape;112;p11"/>
          <p:cNvGrpSpPr/>
          <p:nvPr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3" name="Google Shape;113;p11"/>
            <p:cNvSpPr/>
            <p:nvPr/>
          </p:nvSpPr>
          <p:spPr>
            <a:xfrm>
              <a:off x="2814452" y="5818063"/>
              <a:ext cx="523694" cy="508514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346717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11"/>
            <p:cNvSpPr/>
            <p:nvPr/>
          </p:nvSpPr>
          <p:spPr>
            <a:xfrm>
              <a:off x="4041148" y="5818063"/>
              <a:ext cx="541720" cy="508514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11"/>
            <p:cNvSpPr/>
            <p:nvPr/>
          </p:nvSpPr>
          <p:spPr>
            <a:xfrm>
              <a:off x="4582868" y="5818063"/>
              <a:ext cx="608130" cy="508514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5169177" y="5818063"/>
              <a:ext cx="555002" cy="508514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5831384" y="5818063"/>
              <a:ext cx="541720" cy="521796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11"/>
            <p:cNvSpPr/>
            <p:nvPr/>
          </p:nvSpPr>
          <p:spPr>
            <a:xfrm>
              <a:off x="6530592" y="5818063"/>
              <a:ext cx="521796" cy="508514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11"/>
            <p:cNvSpPr/>
            <p:nvPr/>
          </p:nvSpPr>
          <p:spPr>
            <a:xfrm>
              <a:off x="718331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11"/>
            <p:cNvSpPr/>
            <p:nvPr/>
          </p:nvSpPr>
          <p:spPr>
            <a:xfrm>
              <a:off x="4647381" y="5515421"/>
              <a:ext cx="91077" cy="87282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11"/>
            <p:cNvSpPr/>
            <p:nvPr/>
          </p:nvSpPr>
          <p:spPr>
            <a:xfrm>
              <a:off x="4937689" y="5235549"/>
              <a:ext cx="130923" cy="157487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11"/>
            <p:cNvSpPr/>
            <p:nvPr/>
          </p:nvSpPr>
          <p:spPr>
            <a:xfrm>
              <a:off x="5278280" y="5018292"/>
              <a:ext cx="132821" cy="243821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11"/>
            <p:cNvSpPr/>
            <p:nvPr/>
          </p:nvSpPr>
          <p:spPr>
            <a:xfrm>
              <a:off x="5649230" y="4842779"/>
              <a:ext cx="112898" cy="335847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11"/>
            <p:cNvSpPr/>
            <p:nvPr/>
          </p:nvSpPr>
          <p:spPr>
            <a:xfrm>
              <a:off x="6026821" y="4720394"/>
              <a:ext cx="104359" cy="420283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11"/>
            <p:cNvSpPr/>
            <p:nvPr/>
          </p:nvSpPr>
          <p:spPr>
            <a:xfrm>
              <a:off x="6384489" y="4647343"/>
              <a:ext cx="162232" cy="497129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11"/>
            <p:cNvSpPr/>
            <p:nvPr/>
          </p:nvSpPr>
          <p:spPr>
            <a:xfrm>
              <a:off x="6733618" y="4625522"/>
              <a:ext cx="241924" cy="56828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11"/>
            <p:cNvSpPr/>
            <p:nvPr/>
          </p:nvSpPr>
          <p:spPr>
            <a:xfrm>
              <a:off x="7077055" y="4665368"/>
              <a:ext cx="333950" cy="621412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11"/>
            <p:cNvSpPr/>
            <p:nvPr/>
          </p:nvSpPr>
          <p:spPr>
            <a:xfrm>
              <a:off x="7414800" y="4764984"/>
              <a:ext cx="430719" cy="659361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11"/>
            <p:cNvSpPr/>
            <p:nvPr/>
          </p:nvSpPr>
          <p:spPr>
            <a:xfrm>
              <a:off x="7730724" y="4924369"/>
              <a:ext cx="543617" cy="680232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1" name="Google Shape;131;p11"/>
          <p:cNvSpPr txBox="1">
            <a:spLocks noGrp="1"/>
          </p:cNvSpPr>
          <p:nvPr>
            <p:ph type="body" idx="1"/>
          </p:nvPr>
        </p:nvSpPr>
        <p:spPr>
          <a:xfrm>
            <a:off x="323135" y="1846263"/>
            <a:ext cx="8441453" cy="1241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4000"/>
              <a:buNone/>
              <a:defRPr sz="4000" b="1">
                <a:solidFill>
                  <a:schemeClr val="lt1"/>
                </a:solidFill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5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2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12"/>
          <p:cNvSpPr txBox="1">
            <a:spLocks noGrp="1"/>
          </p:cNvSpPr>
          <p:nvPr>
            <p:ph type="body" idx="1"/>
          </p:nvPr>
        </p:nvSpPr>
        <p:spPr>
          <a:xfrm>
            <a:off x="380010" y="1481446"/>
            <a:ext cx="400911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SzPts val="24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5" name="Google Shape;135;p12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6" name="Google Shape;136;p12"/>
          <p:cNvSpPr txBox="1">
            <a:spLocks noGrp="1"/>
          </p:cNvSpPr>
          <p:nvPr>
            <p:ph type="body" idx="2"/>
          </p:nvPr>
        </p:nvSpPr>
        <p:spPr>
          <a:xfrm>
            <a:off x="4644440" y="1481446"/>
            <a:ext cx="400911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SzPts val="24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>
  <p:cSld name="2_Title and Content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3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13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3"/>
          <p:cNvSpPr txBox="1">
            <a:spLocks noGrp="1"/>
          </p:cNvSpPr>
          <p:nvPr>
            <p:ph type="body" idx="1"/>
          </p:nvPr>
        </p:nvSpPr>
        <p:spPr>
          <a:xfrm>
            <a:off x="4708408" y="1538839"/>
            <a:ext cx="4107743" cy="2416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•"/>
              <a:defRPr sz="200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marL="1371600" lvl="2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175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marL="2286000" lvl="4" indent="-304800" algn="l">
              <a:spcBef>
                <a:spcPts val="240"/>
              </a:spcBef>
              <a:spcAft>
                <a:spcPts val="0"/>
              </a:spcAft>
              <a:buSzPts val="1200"/>
              <a:buChar char="»"/>
              <a:defRPr sz="12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1" name="Google Shape;141;p13"/>
          <p:cNvSpPr txBox="1">
            <a:spLocks noGrp="1"/>
          </p:cNvSpPr>
          <p:nvPr>
            <p:ph type="body" idx="2"/>
          </p:nvPr>
        </p:nvSpPr>
        <p:spPr>
          <a:xfrm>
            <a:off x="351116" y="1540358"/>
            <a:ext cx="4113904" cy="2415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–"/>
              <a:defRPr sz="1800"/>
            </a:lvl2pPr>
            <a:lvl3pPr marL="1371600" lvl="2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175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marL="2286000" lvl="4" indent="-304800" algn="l">
              <a:spcBef>
                <a:spcPts val="240"/>
              </a:spcBef>
              <a:spcAft>
                <a:spcPts val="0"/>
              </a:spcAft>
              <a:buSzPts val="1200"/>
              <a:buChar char="»"/>
              <a:defRPr sz="12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2" name="Google Shape;142;p13"/>
          <p:cNvSpPr txBox="1">
            <a:spLocks noGrp="1"/>
          </p:cNvSpPr>
          <p:nvPr>
            <p:ph type="body" idx="3"/>
          </p:nvPr>
        </p:nvSpPr>
        <p:spPr>
          <a:xfrm>
            <a:off x="4708408" y="4099159"/>
            <a:ext cx="4107743" cy="2416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•"/>
              <a:defRPr sz="200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marL="1371600" lvl="2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175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marL="2286000" lvl="4" indent="-304800" algn="l">
              <a:spcBef>
                <a:spcPts val="240"/>
              </a:spcBef>
              <a:spcAft>
                <a:spcPts val="0"/>
              </a:spcAft>
              <a:buSzPts val="1200"/>
              <a:buChar char="»"/>
              <a:defRPr sz="12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3" name="Google Shape;143;p13"/>
          <p:cNvSpPr txBox="1">
            <a:spLocks noGrp="1"/>
          </p:cNvSpPr>
          <p:nvPr>
            <p:ph type="body" idx="4"/>
          </p:nvPr>
        </p:nvSpPr>
        <p:spPr>
          <a:xfrm>
            <a:off x="351116" y="4100678"/>
            <a:ext cx="4113904" cy="2415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–"/>
              <a:defRPr sz="1800"/>
            </a:lvl2pPr>
            <a:lvl3pPr marL="1371600" lvl="2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175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marL="2286000" lvl="4" indent="-304800" algn="l">
              <a:spcBef>
                <a:spcPts val="240"/>
              </a:spcBef>
              <a:spcAft>
                <a:spcPts val="0"/>
              </a:spcAft>
              <a:buSzPts val="1200"/>
              <a:buChar char="»"/>
              <a:defRPr sz="12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Title Only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4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4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7" name="Google Shape;147;p14"/>
          <p:cNvSpPr txBox="1">
            <a:spLocks noGrp="1"/>
          </p:cNvSpPr>
          <p:nvPr>
            <p:ph type="body" idx="1"/>
          </p:nvPr>
        </p:nvSpPr>
        <p:spPr>
          <a:xfrm>
            <a:off x="157163" y="133350"/>
            <a:ext cx="8826500" cy="595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white">
  <p:cSld name="title only - white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5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5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None/>
              <a:defRPr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15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52" name="Google Shape;152;p15"/>
          <p:cNvGrpSpPr/>
          <p:nvPr/>
        </p:nvGrpSpPr>
        <p:grpSpPr>
          <a:xfrm>
            <a:off x="7264458" y="365740"/>
            <a:ext cx="1553308" cy="487719"/>
            <a:chOff x="7264458" y="365740"/>
            <a:chExt cx="1553308" cy="487719"/>
          </a:xfrm>
        </p:grpSpPr>
        <p:sp>
          <p:nvSpPr>
            <p:cNvPr id="153" name="Google Shape;153;p15"/>
            <p:cNvSpPr/>
            <p:nvPr/>
          </p:nvSpPr>
          <p:spPr>
            <a:xfrm>
              <a:off x="7264458" y="705011"/>
              <a:ext cx="148988" cy="144669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15"/>
            <p:cNvSpPr/>
            <p:nvPr/>
          </p:nvSpPr>
          <p:spPr>
            <a:xfrm>
              <a:off x="7450153" y="705011"/>
              <a:ext cx="131714" cy="144669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15"/>
            <p:cNvSpPr/>
            <p:nvPr/>
          </p:nvSpPr>
          <p:spPr>
            <a:xfrm>
              <a:off x="7613446" y="705011"/>
              <a:ext cx="154116" cy="144669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15"/>
            <p:cNvSpPr/>
            <p:nvPr/>
          </p:nvSpPr>
          <p:spPr>
            <a:xfrm>
              <a:off x="7767562" y="705011"/>
              <a:ext cx="173010" cy="144669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15"/>
            <p:cNvSpPr/>
            <p:nvPr/>
          </p:nvSpPr>
          <p:spPr>
            <a:xfrm>
              <a:off x="7934364" y="705011"/>
              <a:ext cx="157895" cy="144669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15"/>
            <p:cNvSpPr/>
            <p:nvPr/>
          </p:nvSpPr>
          <p:spPr>
            <a:xfrm>
              <a:off x="8122758" y="705011"/>
              <a:ext cx="154116" cy="148448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15"/>
            <p:cNvSpPr/>
            <p:nvPr/>
          </p:nvSpPr>
          <p:spPr>
            <a:xfrm>
              <a:off x="8321678" y="705011"/>
              <a:ext cx="148448" cy="144669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15"/>
            <p:cNvSpPr/>
            <p:nvPr/>
          </p:nvSpPr>
          <p:spPr>
            <a:xfrm>
              <a:off x="8507374" y="705011"/>
              <a:ext cx="131714" cy="144669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15"/>
            <p:cNvSpPr/>
            <p:nvPr/>
          </p:nvSpPr>
          <p:spPr>
            <a:xfrm>
              <a:off x="7785916" y="618911"/>
              <a:ext cx="25911" cy="24831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15"/>
            <p:cNvSpPr/>
            <p:nvPr/>
          </p:nvSpPr>
          <p:spPr>
            <a:xfrm>
              <a:off x="7868507" y="539289"/>
              <a:ext cx="37247" cy="44804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15"/>
            <p:cNvSpPr/>
            <p:nvPr/>
          </p:nvSpPr>
          <p:spPr>
            <a:xfrm>
              <a:off x="7965403" y="477481"/>
              <a:ext cx="37787" cy="69366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15"/>
            <p:cNvSpPr/>
            <p:nvPr/>
          </p:nvSpPr>
          <p:spPr>
            <a:xfrm>
              <a:off x="8070936" y="427548"/>
              <a:ext cx="32119" cy="95546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15"/>
            <p:cNvSpPr/>
            <p:nvPr/>
          </p:nvSpPr>
          <p:spPr>
            <a:xfrm>
              <a:off x="8178358" y="392731"/>
              <a:ext cx="29690" cy="119568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15"/>
            <p:cNvSpPr/>
            <p:nvPr/>
          </p:nvSpPr>
          <p:spPr>
            <a:xfrm>
              <a:off x="8280113" y="371948"/>
              <a:ext cx="46154" cy="141430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15"/>
            <p:cNvSpPr/>
            <p:nvPr/>
          </p:nvSpPr>
          <p:spPr>
            <a:xfrm>
              <a:off x="8379438" y="365740"/>
              <a:ext cx="68826" cy="16167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15"/>
            <p:cNvSpPr/>
            <p:nvPr/>
          </p:nvSpPr>
          <p:spPr>
            <a:xfrm>
              <a:off x="8477144" y="377076"/>
              <a:ext cx="95007" cy="176788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15"/>
            <p:cNvSpPr/>
            <p:nvPr/>
          </p:nvSpPr>
          <p:spPr>
            <a:xfrm>
              <a:off x="8573230" y="405416"/>
              <a:ext cx="122537" cy="187584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15"/>
            <p:cNvSpPr/>
            <p:nvPr/>
          </p:nvSpPr>
          <p:spPr>
            <a:xfrm>
              <a:off x="8663109" y="450760"/>
              <a:ext cx="154656" cy="193522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3_Title Only">
  <p:cSld name="3_Title Only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16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6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4" name="Google Shape;174;p16"/>
          <p:cNvSpPr>
            <a:spLocks noGrp="1"/>
          </p:cNvSpPr>
          <p:nvPr>
            <p:ph type="dgm" idx="2"/>
          </p:nvPr>
        </p:nvSpPr>
        <p:spPr>
          <a:xfrm>
            <a:off x="133350" y="125413"/>
            <a:ext cx="8850313" cy="6008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Title Only">
  <p:cSld name="2_Title Only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7"/>
          <p:cNvSpPr/>
          <p:nvPr/>
        </p:nvSpPr>
        <p:spPr>
          <a:xfrm>
            <a:off x="0" y="6251171"/>
            <a:ext cx="9144000" cy="60682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7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8" name="Google Shape;178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27765" y="6367323"/>
            <a:ext cx="1260213" cy="394766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7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8383980" cy="844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17"/>
          <p:cNvSpPr txBox="1">
            <a:spLocks noGrp="1"/>
          </p:cNvSpPr>
          <p:nvPr>
            <p:ph type="body" idx="1"/>
          </p:nvPr>
        </p:nvSpPr>
        <p:spPr>
          <a:xfrm>
            <a:off x="380010" y="1097280"/>
            <a:ext cx="8383980" cy="4910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SzPts val="24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 type="titleOnly">
  <p:cSld name="TITLE_ONLY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"/>
          <p:cNvSpPr/>
          <p:nvPr/>
        </p:nvSpPr>
        <p:spPr>
          <a:xfrm rot="10800000" flipH="1">
            <a:off x="0" y="1219200"/>
            <a:ext cx="9144000" cy="5638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8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8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18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86" name="Google Shape;186;p18"/>
          <p:cNvGrpSpPr/>
          <p:nvPr/>
        </p:nvGrpSpPr>
        <p:grpSpPr>
          <a:xfrm>
            <a:off x="7264458" y="365740"/>
            <a:ext cx="1553308" cy="487719"/>
            <a:chOff x="7264458" y="365740"/>
            <a:chExt cx="1553308" cy="487719"/>
          </a:xfrm>
        </p:grpSpPr>
        <p:sp>
          <p:nvSpPr>
            <p:cNvPr id="187" name="Google Shape;187;p18"/>
            <p:cNvSpPr/>
            <p:nvPr/>
          </p:nvSpPr>
          <p:spPr>
            <a:xfrm>
              <a:off x="7264458" y="705011"/>
              <a:ext cx="148988" cy="144669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18"/>
            <p:cNvSpPr/>
            <p:nvPr/>
          </p:nvSpPr>
          <p:spPr>
            <a:xfrm>
              <a:off x="7450153" y="705011"/>
              <a:ext cx="131714" cy="144669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18"/>
            <p:cNvSpPr/>
            <p:nvPr/>
          </p:nvSpPr>
          <p:spPr>
            <a:xfrm>
              <a:off x="7613446" y="705011"/>
              <a:ext cx="154116" cy="144669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18"/>
            <p:cNvSpPr/>
            <p:nvPr/>
          </p:nvSpPr>
          <p:spPr>
            <a:xfrm>
              <a:off x="7767562" y="705011"/>
              <a:ext cx="173010" cy="144669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18"/>
            <p:cNvSpPr/>
            <p:nvPr/>
          </p:nvSpPr>
          <p:spPr>
            <a:xfrm>
              <a:off x="7934364" y="705011"/>
              <a:ext cx="157895" cy="144669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18"/>
            <p:cNvSpPr/>
            <p:nvPr/>
          </p:nvSpPr>
          <p:spPr>
            <a:xfrm>
              <a:off x="8122758" y="705011"/>
              <a:ext cx="154116" cy="148448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18"/>
            <p:cNvSpPr/>
            <p:nvPr/>
          </p:nvSpPr>
          <p:spPr>
            <a:xfrm>
              <a:off x="8321678" y="705011"/>
              <a:ext cx="148448" cy="144669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18"/>
            <p:cNvSpPr/>
            <p:nvPr/>
          </p:nvSpPr>
          <p:spPr>
            <a:xfrm>
              <a:off x="8507374" y="705011"/>
              <a:ext cx="131714" cy="144669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18"/>
            <p:cNvSpPr/>
            <p:nvPr/>
          </p:nvSpPr>
          <p:spPr>
            <a:xfrm>
              <a:off x="7785916" y="618911"/>
              <a:ext cx="25911" cy="24831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18"/>
            <p:cNvSpPr/>
            <p:nvPr/>
          </p:nvSpPr>
          <p:spPr>
            <a:xfrm>
              <a:off x="7868507" y="539289"/>
              <a:ext cx="37247" cy="44804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18"/>
            <p:cNvSpPr/>
            <p:nvPr/>
          </p:nvSpPr>
          <p:spPr>
            <a:xfrm>
              <a:off x="7965403" y="477481"/>
              <a:ext cx="37787" cy="69366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18"/>
            <p:cNvSpPr/>
            <p:nvPr/>
          </p:nvSpPr>
          <p:spPr>
            <a:xfrm>
              <a:off x="8070936" y="427548"/>
              <a:ext cx="32119" cy="95546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18"/>
            <p:cNvSpPr/>
            <p:nvPr/>
          </p:nvSpPr>
          <p:spPr>
            <a:xfrm>
              <a:off x="8178358" y="392731"/>
              <a:ext cx="29690" cy="119568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18"/>
            <p:cNvSpPr/>
            <p:nvPr/>
          </p:nvSpPr>
          <p:spPr>
            <a:xfrm>
              <a:off x="8280113" y="371948"/>
              <a:ext cx="46154" cy="141430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18"/>
            <p:cNvSpPr/>
            <p:nvPr/>
          </p:nvSpPr>
          <p:spPr>
            <a:xfrm>
              <a:off x="8379438" y="365740"/>
              <a:ext cx="68826" cy="16167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18"/>
            <p:cNvSpPr/>
            <p:nvPr/>
          </p:nvSpPr>
          <p:spPr>
            <a:xfrm>
              <a:off x="8477144" y="377076"/>
              <a:ext cx="95007" cy="176788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18"/>
            <p:cNvSpPr/>
            <p:nvPr/>
          </p:nvSpPr>
          <p:spPr>
            <a:xfrm>
              <a:off x="8573230" y="405416"/>
              <a:ext cx="122537" cy="187584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18"/>
            <p:cNvSpPr/>
            <p:nvPr/>
          </p:nvSpPr>
          <p:spPr>
            <a:xfrm>
              <a:off x="8663109" y="450760"/>
              <a:ext cx="154656" cy="193522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9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p6"/>
          <p:cNvGrpSpPr/>
          <p:nvPr/>
        </p:nvGrpSpPr>
        <p:grpSpPr>
          <a:xfrm>
            <a:off x="7264458" y="365740"/>
            <a:ext cx="1553307" cy="487719"/>
            <a:chOff x="166688" y="-3240088"/>
            <a:chExt cx="9136063" cy="2868613"/>
          </a:xfrm>
        </p:grpSpPr>
        <p:sp>
          <p:nvSpPr>
            <p:cNvPr id="12" name="Google Shape;12;p6"/>
            <p:cNvSpPr/>
            <p:nvPr/>
          </p:nvSpPr>
          <p:spPr>
            <a:xfrm>
              <a:off x="166688" y="-1244600"/>
              <a:ext cx="876300" cy="850900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6"/>
            <p:cNvSpPr/>
            <p:nvPr/>
          </p:nvSpPr>
          <p:spPr>
            <a:xfrm>
              <a:off x="1258888" y="-1244600"/>
              <a:ext cx="774700" cy="850900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6"/>
            <p:cNvSpPr/>
            <p:nvPr/>
          </p:nvSpPr>
          <p:spPr>
            <a:xfrm>
              <a:off x="2219326" y="-1244600"/>
              <a:ext cx="906463" cy="850900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6"/>
            <p:cNvSpPr/>
            <p:nvPr/>
          </p:nvSpPr>
          <p:spPr>
            <a:xfrm>
              <a:off x="3125788" y="-1244600"/>
              <a:ext cx="1017588" cy="850900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6"/>
            <p:cNvSpPr/>
            <p:nvPr/>
          </p:nvSpPr>
          <p:spPr>
            <a:xfrm>
              <a:off x="4106863" y="-1244600"/>
              <a:ext cx="928688" cy="850900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6"/>
            <p:cNvSpPr/>
            <p:nvPr/>
          </p:nvSpPr>
          <p:spPr>
            <a:xfrm>
              <a:off x="5214938" y="-1244600"/>
              <a:ext cx="906463" cy="873125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6"/>
            <p:cNvSpPr/>
            <p:nvPr/>
          </p:nvSpPr>
          <p:spPr>
            <a:xfrm>
              <a:off x="6384926" y="-1244600"/>
              <a:ext cx="873125" cy="850900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6"/>
            <p:cNvSpPr/>
            <p:nvPr/>
          </p:nvSpPr>
          <p:spPr>
            <a:xfrm>
              <a:off x="7477126" y="-1244600"/>
              <a:ext cx="774700" cy="850900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6"/>
            <p:cNvSpPr/>
            <p:nvPr/>
          </p:nvSpPr>
          <p:spPr>
            <a:xfrm>
              <a:off x="3233738" y="-1751013"/>
              <a:ext cx="152400" cy="146050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6"/>
            <p:cNvSpPr/>
            <p:nvPr/>
          </p:nvSpPr>
          <p:spPr>
            <a:xfrm>
              <a:off x="3719513" y="-2219325"/>
              <a:ext cx="219075" cy="263525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6"/>
            <p:cNvSpPr/>
            <p:nvPr/>
          </p:nvSpPr>
          <p:spPr>
            <a:xfrm>
              <a:off x="4289426" y="-2582863"/>
              <a:ext cx="222250" cy="407988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6"/>
            <p:cNvSpPr/>
            <p:nvPr/>
          </p:nvSpPr>
          <p:spPr>
            <a:xfrm>
              <a:off x="4910138" y="-2876550"/>
              <a:ext cx="188913" cy="561975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6"/>
            <p:cNvSpPr/>
            <p:nvPr/>
          </p:nvSpPr>
          <p:spPr>
            <a:xfrm>
              <a:off x="5541963" y="-3081338"/>
              <a:ext cx="174625" cy="703263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6"/>
            <p:cNvSpPr/>
            <p:nvPr/>
          </p:nvSpPr>
          <p:spPr>
            <a:xfrm>
              <a:off x="6140451" y="-3203575"/>
              <a:ext cx="271463" cy="831850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6"/>
            <p:cNvSpPr/>
            <p:nvPr/>
          </p:nvSpPr>
          <p:spPr>
            <a:xfrm>
              <a:off x="6724651" y="-3240088"/>
              <a:ext cx="404813" cy="95091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6"/>
            <p:cNvSpPr/>
            <p:nvPr/>
          </p:nvSpPr>
          <p:spPr>
            <a:xfrm>
              <a:off x="7299326" y="-3173413"/>
              <a:ext cx="558800" cy="1039813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6"/>
            <p:cNvSpPr/>
            <p:nvPr/>
          </p:nvSpPr>
          <p:spPr>
            <a:xfrm>
              <a:off x="7864476" y="-3006725"/>
              <a:ext cx="720725" cy="1103313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6"/>
            <p:cNvSpPr/>
            <p:nvPr/>
          </p:nvSpPr>
          <p:spPr>
            <a:xfrm>
              <a:off x="8393113" y="-2740025"/>
              <a:ext cx="909638" cy="1138238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" name="Google Shape;30;p6"/>
          <p:cNvSpPr txBox="1">
            <a:spLocks noGrp="1"/>
          </p:cNvSpPr>
          <p:nvPr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"/>
          <p:cNvSpPr txBox="1">
            <a:spLocks noGrp="1"/>
          </p:cNvSpPr>
          <p:nvPr>
            <p:ph type="ctrTitle"/>
          </p:nvPr>
        </p:nvSpPr>
        <p:spPr>
          <a:xfrm>
            <a:off x="496176" y="320634"/>
            <a:ext cx="7980003" cy="31083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lang="en-US" sz="8000"/>
              <a:t>QC Orientation</a:t>
            </a:r>
          </a:p>
        </p:txBody>
      </p:sp>
      <p:sp>
        <p:nvSpPr>
          <p:cNvPr id="213" name="Google Shape;213;p1"/>
          <p:cNvSpPr txBox="1">
            <a:spLocks noGrp="1"/>
          </p:cNvSpPr>
          <p:nvPr>
            <p:ph type="subTitle" idx="1"/>
          </p:nvPr>
        </p:nvSpPr>
        <p:spPr>
          <a:xfrm>
            <a:off x="2238467" y="4362548"/>
            <a:ext cx="6814614" cy="683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r">
              <a:spcBef>
                <a:spcPts val="0"/>
              </a:spcBef>
            </a:pPr>
            <a:r>
              <a:rPr lang="en-US"/>
              <a:t>QC Department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9C831-9CF1-8A3A-EC5F-F0718DB2F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QC?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3A2565-EC1F-69E4-C326-0847711F3D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/>
              <a:t>QC is </a:t>
            </a:r>
            <a:r>
              <a:rPr lang="en-US" sz="2400" err="1"/>
              <a:t>Revature's</a:t>
            </a:r>
            <a:r>
              <a:rPr lang="en-US" sz="2400"/>
              <a:t> Quality Control process to assess the mastery of trained content.</a:t>
            </a:r>
            <a:endParaRPr lang="en-US" sz="2400">
              <a:solidFill>
                <a:srgbClr val="000000"/>
              </a:solidFill>
            </a:endParaRPr>
          </a:p>
          <a:p>
            <a:endParaRPr lang="en-US" sz="2400">
              <a:solidFill>
                <a:srgbClr val="000000"/>
              </a:solidFill>
            </a:endParaRPr>
          </a:p>
          <a:p>
            <a:r>
              <a:rPr lang="en-US" sz="2400"/>
              <a:t>We do this through some Assessments:</a:t>
            </a:r>
            <a:endParaRPr lang="en-US" sz="2400">
              <a:solidFill>
                <a:srgbClr val="000000"/>
              </a:solidFill>
            </a:endParaRPr>
          </a:p>
          <a:p>
            <a:pPr lvl="1"/>
            <a:r>
              <a:rPr lang="en-US" sz="2000"/>
              <a:t>Quality Audits</a:t>
            </a:r>
            <a:endParaRPr lang="en-US" sz="2000">
              <a:solidFill>
                <a:srgbClr val="000000"/>
              </a:solidFill>
            </a:endParaRPr>
          </a:p>
          <a:p>
            <a:pPr lvl="1"/>
            <a:r>
              <a:rPr lang="en-US" sz="2000"/>
              <a:t>Coding Challenges</a:t>
            </a:r>
            <a:endParaRPr lang="en-US" sz="2000">
              <a:solidFill>
                <a:srgbClr val="000000"/>
              </a:solidFill>
            </a:endParaRPr>
          </a:p>
          <a:p>
            <a:pPr lvl="1"/>
            <a:r>
              <a:rPr lang="en-US" sz="2000"/>
              <a:t>Exams</a:t>
            </a:r>
            <a:endParaRPr lang="en-US" sz="2000">
              <a:solidFill>
                <a:srgbClr val="000000"/>
              </a:solidFill>
            </a:endParaRPr>
          </a:p>
          <a:p>
            <a:pPr lvl="1"/>
            <a:r>
              <a:rPr lang="en-US" sz="2000"/>
              <a:t>Project Review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231B5B-CC2C-178F-FDE8-907937D8AF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179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1637D-CA04-F3FD-3B9A-021A52F90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Quality Audits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C32D1C-4319-947A-BA3D-DBA81310A8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L="508000" indent="-457200"/>
            <a:r>
              <a:rPr lang="en-US" sz="2600"/>
              <a:t>Quality Audits are like technical discussions where we will discuss the topics covered in the completed competency. </a:t>
            </a:r>
            <a:endParaRPr lang="en-US" sz="2600">
              <a:solidFill>
                <a:srgbClr val="000000"/>
              </a:solidFill>
            </a:endParaRPr>
          </a:p>
          <a:p>
            <a:pPr lvl="2"/>
            <a:endParaRPr lang="en-US" sz="1900">
              <a:solidFill>
                <a:srgbClr val="000000"/>
              </a:solidFill>
            </a:endParaRPr>
          </a:p>
          <a:p>
            <a:r>
              <a:rPr lang="en-US" sz="2600"/>
              <a:t>Quality Audits will be on a 1 on 1 basis. </a:t>
            </a:r>
            <a:r>
              <a:rPr lang="en-US" sz="2400" b="1"/>
              <a:t>Make sure to have your webcam on</a:t>
            </a:r>
            <a:r>
              <a:rPr lang="en-US" sz="2400"/>
              <a:t>.</a:t>
            </a:r>
            <a:endParaRPr lang="en-US" sz="2400">
              <a:solidFill>
                <a:srgbClr val="000000"/>
              </a:solidFill>
            </a:endParaRPr>
          </a:p>
          <a:p>
            <a:endParaRPr lang="en-US" sz="2600">
              <a:solidFill>
                <a:srgbClr val="000000"/>
              </a:solidFill>
            </a:endParaRPr>
          </a:p>
          <a:p>
            <a:r>
              <a:rPr lang="en-US" sz="2600"/>
              <a:t>Performance evaluation is based on:</a:t>
            </a:r>
            <a:endParaRPr lang="en-US" sz="2600">
              <a:solidFill>
                <a:srgbClr val="000000"/>
              </a:solidFill>
            </a:endParaRPr>
          </a:p>
          <a:p>
            <a:pPr marL="965200" lvl="1" indent="-457200"/>
            <a:r>
              <a:rPr lang="en-US"/>
              <a:t>Your technical knowledge of when and how to apply the concepts in different scenarios. </a:t>
            </a:r>
            <a:endParaRPr lang="en-US">
              <a:solidFill>
                <a:srgbClr val="000000"/>
              </a:solidFill>
            </a:endParaRPr>
          </a:p>
          <a:p>
            <a:pPr lvl="1"/>
            <a:endParaRPr lang="en-US" sz="2200">
              <a:solidFill>
                <a:srgbClr val="000000"/>
              </a:solidFill>
            </a:endParaRPr>
          </a:p>
          <a:p>
            <a:pPr marL="508000" indent="-457200"/>
            <a:r>
              <a:rPr lang="en-US" sz="2400"/>
              <a:t>They will be scheduled after the content for the competency has been covered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9B4B52-24AC-6A35-700B-787447A9F4E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319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45037-4715-7FDD-7F95-949D66B4D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Quality Audit Demo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EF6DAA-554A-1EA9-FB82-0962AAAD4B8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0870D41B-E0F1-6692-BAFD-0DBC925A2977}"/>
              </a:ext>
            </a:extLst>
          </p:cNvPr>
          <p:cNvSpPr>
            <a:spLocks noGrp="1"/>
          </p:cNvSpPr>
          <p:nvPr/>
        </p:nvSpPr>
        <p:spPr>
          <a:xfrm>
            <a:off x="404994" y="2187233"/>
            <a:ext cx="8383980" cy="2258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Let's walk through what Quality Audit would look like by showing some examples of good, average, and poor answers</a:t>
            </a:r>
          </a:p>
          <a:p>
            <a:endParaRPr lang="en-US"/>
          </a:p>
          <a:p>
            <a:r>
              <a:rPr lang="en-US"/>
              <a:t>Read each answer yourself and see if you agree with the sentiment provided below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841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BD1E9-3AB5-1FED-1D2D-7E195805A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Quality Audit Demo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42ABFE-B5F9-C7A6-76F2-956887956D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1272" y="1487692"/>
            <a:ext cx="8383980" cy="5180319"/>
          </a:xfrm>
        </p:spPr>
        <p:txBody>
          <a:bodyPr>
            <a:normAutofit fontScale="92500" lnSpcReduction="20000"/>
          </a:bodyPr>
          <a:lstStyle/>
          <a:p>
            <a:pPr marL="50800" indent="0">
              <a:lnSpc>
                <a:spcPct val="120000"/>
              </a:lnSpc>
              <a:buNone/>
            </a:pPr>
            <a:r>
              <a:rPr lang="en-US" sz="2200" b="1"/>
              <a:t>Q: "Explain what polymorphism means and how you can use it in Java code?"</a:t>
            </a:r>
            <a:endParaRPr lang="en-US" sz="2200"/>
          </a:p>
          <a:p>
            <a:pPr marL="50800" indent="0">
              <a:lnSpc>
                <a:spcPct val="120000"/>
              </a:lnSpc>
              <a:buNone/>
            </a:pPr>
            <a:endParaRPr lang="en-US" sz="2200" b="1"/>
          </a:p>
          <a:p>
            <a:pPr marL="50800" indent="0">
              <a:lnSpc>
                <a:spcPct val="120000"/>
              </a:lnSpc>
              <a:buNone/>
            </a:pPr>
            <a:r>
              <a:rPr lang="en-US" sz="2000"/>
              <a:t>"</a:t>
            </a:r>
            <a:r>
              <a:rPr lang="en-US" sz="2000" err="1"/>
              <a:t>Ummm</a:t>
            </a:r>
            <a:r>
              <a:rPr lang="en-US" sz="2000"/>
              <a:t>.... well it's sort of like how you write something but you can like use it as something else... wait, I may be confusing this with abstraction... no I think I have it right..."</a:t>
            </a:r>
          </a:p>
          <a:p>
            <a:pPr>
              <a:lnSpc>
                <a:spcPct val="120000"/>
              </a:lnSpc>
            </a:pPr>
            <a:endParaRPr lang="en-US" sz="2000"/>
          </a:p>
          <a:p>
            <a:pPr>
              <a:lnSpc>
                <a:spcPct val="120000"/>
              </a:lnSpc>
            </a:pPr>
            <a:r>
              <a:rPr lang="en-US" sz="2000"/>
              <a:t>Notes: (poor)</a:t>
            </a:r>
          </a:p>
          <a:p>
            <a:pPr lvl="1">
              <a:lnSpc>
                <a:spcPct val="120000"/>
              </a:lnSpc>
            </a:pPr>
            <a:r>
              <a:rPr lang="en-US" sz="2000"/>
              <a:t>Filler words</a:t>
            </a:r>
          </a:p>
          <a:p>
            <a:pPr lvl="1">
              <a:lnSpc>
                <a:spcPct val="120000"/>
              </a:lnSpc>
            </a:pPr>
            <a:r>
              <a:rPr lang="en-US" sz="2000"/>
              <a:t>Too short</a:t>
            </a:r>
          </a:p>
          <a:p>
            <a:pPr lvl="1">
              <a:lnSpc>
                <a:spcPct val="120000"/>
              </a:lnSpc>
            </a:pPr>
            <a:r>
              <a:rPr lang="en-US" sz="2000"/>
              <a:t>Extremely vague</a:t>
            </a:r>
          </a:p>
          <a:p>
            <a:pPr lvl="1">
              <a:lnSpc>
                <a:spcPct val="120000"/>
              </a:lnSpc>
            </a:pPr>
            <a:r>
              <a:rPr lang="en-US" sz="2000"/>
              <a:t>Trailing off</a:t>
            </a:r>
          </a:p>
          <a:p>
            <a:pPr lvl="1">
              <a:lnSpc>
                <a:spcPct val="120000"/>
              </a:lnSpc>
            </a:pPr>
            <a:r>
              <a:rPr lang="en-US" sz="2000"/>
              <a:t>No technical terminology used</a:t>
            </a:r>
          </a:p>
          <a:p>
            <a:pPr lvl="1">
              <a:lnSpc>
                <a:spcPct val="120000"/>
              </a:lnSpc>
            </a:pPr>
            <a:r>
              <a:rPr lang="en-US" sz="2000"/>
              <a:t>Unconfident language ("sort </a:t>
            </a:r>
            <a:r>
              <a:rPr lang="en-US" sz="2000" err="1"/>
              <a:t>of","like</a:t>
            </a:r>
            <a:r>
              <a:rPr lang="en-US" sz="2000"/>
              <a:t>")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8E7C0B-FD55-51E8-A7F9-166F4E3BED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168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BD1E9-3AB5-1FED-1D2D-7E195805A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Quality Audit Demo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42ABFE-B5F9-C7A6-76F2-956887956D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3918649"/>
          </a:xfrm>
        </p:spPr>
        <p:txBody>
          <a:bodyPr>
            <a:normAutofit fontScale="70000" lnSpcReduction="20000"/>
          </a:bodyPr>
          <a:lstStyle/>
          <a:p>
            <a:pPr marL="50800" indent="0">
              <a:buNone/>
            </a:pPr>
            <a:r>
              <a:rPr lang="en-US" b="1"/>
              <a:t>Q: "Explain what polymorphism means and how you can use it in Java code?"</a:t>
            </a:r>
            <a:endParaRPr lang="en-US"/>
          </a:p>
          <a:p>
            <a:pPr marL="50800" indent="0">
              <a:buNone/>
            </a:pPr>
            <a:endParaRPr lang="en-US"/>
          </a:p>
          <a:p>
            <a:pPr marL="50800" indent="0">
              <a:lnSpc>
                <a:spcPct val="120000"/>
              </a:lnSpc>
              <a:buNone/>
            </a:pPr>
            <a:r>
              <a:rPr lang="en-US"/>
              <a:t>"I think polymorphism means many forms. I believe in our code we can achieve polymorphism through method overloading or overriding. Overriding is being able to take child class and provide a specific implementation for a method; inheritance means we receive the same fields and methods as the parent class. Private fields are not inherited."</a:t>
            </a:r>
          </a:p>
          <a:p>
            <a:pPr marL="50800" indent="0">
              <a:buNone/>
            </a:pPr>
            <a:endParaRPr lang="en-US"/>
          </a:p>
          <a:p>
            <a:r>
              <a:rPr lang="en-US"/>
              <a:t>Notes: (Average)</a:t>
            </a:r>
          </a:p>
          <a:p>
            <a:pPr lvl="1"/>
            <a:r>
              <a:rPr lang="en-US"/>
              <a:t>Technically correct, but some information is irrelevant to question</a:t>
            </a:r>
          </a:p>
          <a:p>
            <a:pPr lvl="1"/>
            <a:r>
              <a:rPr lang="en-US"/>
              <a:t>Unconfident language ("I think", "I believe")</a:t>
            </a:r>
          </a:p>
          <a:p>
            <a:pPr marL="50800" indent="0">
              <a:buNone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8E7C0B-FD55-51E8-A7F9-166F4E3BED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0523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BD1E9-3AB5-1FED-1D2D-7E195805A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Quality Audit Demo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42ABFE-B5F9-C7A6-76F2-956887956D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3981107"/>
          </a:xfrm>
        </p:spPr>
        <p:txBody>
          <a:bodyPr>
            <a:normAutofit fontScale="92500" lnSpcReduction="10000"/>
          </a:bodyPr>
          <a:lstStyle/>
          <a:p>
            <a:pPr marL="50800" indent="0">
              <a:buNone/>
            </a:pPr>
            <a:r>
              <a:rPr lang="en-US" sz="2200" b="1"/>
              <a:t>Q: "Explain what polymorphism means and how you can use it in Java code?"</a:t>
            </a:r>
            <a:endParaRPr lang="en-US" sz="2200"/>
          </a:p>
          <a:p>
            <a:pPr marL="50800" indent="0">
              <a:buNone/>
            </a:pPr>
            <a:endParaRPr lang="en-US"/>
          </a:p>
          <a:p>
            <a:pPr marL="50800" indent="0">
              <a:lnSpc>
                <a:spcPct val="110000"/>
              </a:lnSpc>
              <a:buNone/>
            </a:pPr>
            <a:r>
              <a:rPr lang="en-US" sz="2400"/>
              <a:t>"Polymorphism means many forms. We can use method overloading or overriding to implement it in the code. Overloading means changing the method signature in the same class; overriding means changing the implementation in a subclass"</a:t>
            </a:r>
          </a:p>
          <a:p>
            <a:endParaRPr lang="en-US" sz="2400"/>
          </a:p>
          <a:p>
            <a:r>
              <a:rPr lang="en-US" sz="2400"/>
              <a:t>Notes: (good)</a:t>
            </a:r>
          </a:p>
          <a:p>
            <a:pPr lvl="1"/>
            <a:r>
              <a:rPr lang="en-US" sz="2000"/>
              <a:t>No filler words, hesitations</a:t>
            </a:r>
          </a:p>
          <a:p>
            <a:pPr lvl="1"/>
            <a:r>
              <a:rPr lang="en-US" sz="2000"/>
              <a:t>Gave explanations for the terms used</a:t>
            </a:r>
          </a:p>
          <a:p>
            <a:pPr marL="50800" indent="0">
              <a:buNone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8E7C0B-FD55-51E8-A7F9-166F4E3BED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8983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BD1E9-3AB5-1FED-1D2D-7E195805A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Quality Audit Demo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42ABFE-B5F9-C7A6-76F2-956887956D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2357" y="1269438"/>
            <a:ext cx="8383980" cy="5508128"/>
          </a:xfrm>
        </p:spPr>
        <p:txBody>
          <a:bodyPr>
            <a:normAutofit fontScale="70000" lnSpcReduction="20000"/>
          </a:bodyPr>
          <a:lstStyle/>
          <a:p>
            <a:pPr marL="50800" indent="0">
              <a:buNone/>
            </a:pPr>
            <a:endParaRPr lang="en-US"/>
          </a:p>
          <a:p>
            <a:pPr marL="50800" indent="0">
              <a:buNone/>
            </a:pPr>
            <a:r>
              <a:rPr lang="en-US" b="1"/>
              <a:t>Q: "Explain what polymorphism means and how you can use it in Java code?"</a:t>
            </a:r>
            <a:endParaRPr lang="en-US"/>
          </a:p>
          <a:p>
            <a:pPr marL="50800" indent="0">
              <a:buNone/>
            </a:pPr>
            <a:endParaRPr lang="en-US" b="1"/>
          </a:p>
          <a:p>
            <a:pPr marL="50800" indent="0">
              <a:buNone/>
            </a:pPr>
            <a:r>
              <a:rPr lang="en-US" sz="2800"/>
              <a:t>"Polymorphism is an object-oriented design principle that means many forms. Most commonly we will use method polymorphism which includes method overloading and overriding. Overloading consists of a method in the same class with the same name but changing the number or type of parameters; overriding refers to inheriting a method and then changing its implementation, so it must be declared with the same method signature. When we use overriding, we can declare a variable as the parent type but instantiate the child and the child's method will be invoked. Also, covariant return types allow us to return a subtype of the parent method's return type when we override a method. For example, in my latest project, I overloaded a method to … &lt;give concrete example&gt;"</a:t>
            </a:r>
          </a:p>
          <a:p>
            <a:pPr marL="50800" indent="0">
              <a:buNone/>
            </a:pPr>
            <a:endParaRPr lang="en-US"/>
          </a:p>
          <a:p>
            <a:pPr marL="285750" indent="-285750"/>
            <a:r>
              <a:rPr lang="en-US"/>
              <a:t>Notes: (exemplary)</a:t>
            </a:r>
          </a:p>
          <a:p>
            <a:pPr marL="1200150" lvl="1" indent="-285750"/>
            <a:r>
              <a:rPr lang="en-US"/>
              <a:t>Very detailed and succinct</a:t>
            </a:r>
          </a:p>
          <a:p>
            <a:pPr marL="1200150" lvl="1" indent="-285750"/>
            <a:r>
              <a:rPr lang="en-US"/>
              <a:t>Bonus for adding in a real world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8E7C0B-FD55-51E8-A7F9-166F4E3BED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4089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92EA4-9710-FE89-E05D-4DB00760D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Coding Challenges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28108F-683A-B00B-A1DF-711007E8D7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5069809"/>
          </a:xfrm>
        </p:spPr>
        <p:txBody>
          <a:bodyPr>
            <a:normAutofit fontScale="85000" lnSpcReduction="20000"/>
          </a:bodyPr>
          <a:lstStyle/>
          <a:p>
            <a:r>
              <a:rPr lang="en-US" sz="2400"/>
              <a:t>If you are learning a curricula with a core programming language, you will also be given coding challenges in your core languages:</a:t>
            </a:r>
          </a:p>
          <a:p>
            <a:pPr lvl="1"/>
            <a:r>
              <a:rPr lang="en-US" sz="2000"/>
              <a:t>e.g. the first language you learn in your curricula (Java, C#)</a:t>
            </a:r>
          </a:p>
          <a:p>
            <a:pPr lvl="1"/>
            <a:r>
              <a:rPr lang="en-US" sz="2000"/>
              <a:t>also SQL if you learn database technologies</a:t>
            </a:r>
          </a:p>
          <a:p>
            <a:pPr marL="533400" lvl="1" indent="0">
              <a:buNone/>
            </a:pPr>
            <a:endParaRPr lang="en-US" sz="2000"/>
          </a:p>
          <a:p>
            <a:r>
              <a:rPr lang="en-US" sz="2400"/>
              <a:t>Not all curricula have coding challenges, check with your trainer!</a:t>
            </a:r>
          </a:p>
          <a:p>
            <a:endParaRPr lang="en-US" sz="2400"/>
          </a:p>
          <a:p>
            <a:r>
              <a:rPr lang="en-US" sz="2400"/>
              <a:t>These will be taken using the </a:t>
            </a:r>
            <a:r>
              <a:rPr lang="en-US" sz="2400" err="1"/>
              <a:t>iMocha</a:t>
            </a:r>
            <a:r>
              <a:rPr lang="en-US" sz="2400"/>
              <a:t> platform through </a:t>
            </a:r>
            <a:r>
              <a:rPr lang="en-US" sz="2400" err="1"/>
              <a:t>RevaturePro</a:t>
            </a:r>
            <a:endParaRPr lang="en-US" sz="2400"/>
          </a:p>
          <a:p>
            <a:pPr lvl="1"/>
            <a:r>
              <a:rPr lang="en-US" sz="2000"/>
              <a:t>The platform will check for window violations, please do not switch away from the test window after you start</a:t>
            </a:r>
          </a:p>
          <a:p>
            <a:pPr lvl="1"/>
            <a:r>
              <a:rPr lang="en-US" sz="2000"/>
              <a:t>Violations will be penalized</a:t>
            </a:r>
          </a:p>
          <a:p>
            <a:pPr marL="50800" indent="0">
              <a:buNone/>
            </a:pPr>
            <a:endParaRPr lang="en-US" sz="2400"/>
          </a:p>
          <a:p>
            <a:r>
              <a:rPr lang="en-US" sz="2400"/>
              <a:t>Performance evaluation is based on:</a:t>
            </a:r>
            <a:endParaRPr lang="en-US"/>
          </a:p>
          <a:p>
            <a:pPr lvl="1"/>
            <a:r>
              <a:rPr lang="en-US" sz="2000"/>
              <a:t>your ability to pass 1-5 test cases using the correct programming language</a:t>
            </a:r>
          </a:p>
          <a:p>
            <a:pPr marL="533400" lvl="1" indent="0">
              <a:buNone/>
            </a:pPr>
            <a:endParaRPr lang="en-US" sz="2000"/>
          </a:p>
          <a:p>
            <a:r>
              <a:rPr lang="en-US" sz="2400"/>
              <a:t>They will be scheduled:</a:t>
            </a:r>
          </a:p>
          <a:p>
            <a:pPr lvl="1"/>
            <a:r>
              <a:rPr lang="en-US" sz="2000"/>
              <a:t>Every week asynchronously, and are open for 3 days</a:t>
            </a:r>
          </a:p>
          <a:p>
            <a:endParaRPr lang="en-US" sz="24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28A539-67CE-8941-3391-DD427854999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5719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92EA4-9710-FE89-E05D-4DB00760D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Coding Challenges - Guidelines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28108F-683A-B00B-A1DF-711007E8D7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524" y="1481446"/>
            <a:ext cx="5618047" cy="5024841"/>
          </a:xfrm>
        </p:spPr>
        <p:txBody>
          <a:bodyPr>
            <a:normAutofit lnSpcReduction="10000"/>
          </a:bodyPr>
          <a:lstStyle/>
          <a:p>
            <a:r>
              <a:rPr lang="en-US" sz="2000"/>
              <a:t>For coding challenges, if you do the question in the wrong programming language for </a:t>
            </a:r>
            <a:r>
              <a:rPr lang="en-US" sz="2000" b="1"/>
              <a:t>any</a:t>
            </a:r>
            <a:r>
              <a:rPr lang="en-US" sz="2000"/>
              <a:t> question, you will receive a 0%.</a:t>
            </a:r>
          </a:p>
          <a:p>
            <a:pPr marL="50800" indent="0">
              <a:buNone/>
            </a:pPr>
            <a:endParaRPr lang="en-US" sz="2000"/>
          </a:p>
          <a:p>
            <a:r>
              <a:rPr lang="en-US" sz="2000"/>
              <a:t>If you hard code an answer to only get 1 test passing for each question, you will still fail.</a:t>
            </a:r>
          </a:p>
          <a:p>
            <a:pPr marL="50800" indent="0">
              <a:buNone/>
            </a:pPr>
            <a:endParaRPr lang="en-US" sz="2000"/>
          </a:p>
          <a:p>
            <a:r>
              <a:rPr lang="en-US" sz="2000"/>
              <a:t>Set out about 1-1.5 hours to do the coding challenge because once you start it the clock does not stop.</a:t>
            </a:r>
          </a:p>
          <a:p>
            <a:pPr marL="50800" indent="0">
              <a:buNone/>
            </a:pPr>
            <a:endParaRPr lang="en-US" sz="2000"/>
          </a:p>
          <a:p>
            <a:r>
              <a:rPr lang="en-US" sz="2000" b="1"/>
              <a:t>Do Not</a:t>
            </a:r>
            <a:r>
              <a:rPr lang="en-US" sz="2000"/>
              <a:t> edit the provided code or else none of the test cases will pass.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28A539-67CE-8941-3391-DD427854999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4E4F58-91FD-42C3-02A6-623E9377E1DC}"/>
              </a:ext>
            </a:extLst>
          </p:cNvPr>
          <p:cNvSpPr txBox="1"/>
          <p:nvPr/>
        </p:nvSpPr>
        <p:spPr>
          <a:xfrm>
            <a:off x="5556849" y="4673831"/>
            <a:ext cx="4201179" cy="164464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/>
            <a:r>
              <a:rPr lang="en-US">
                <a:latin typeface="Consolas"/>
                <a:ea typeface="Segoe UI"/>
                <a:cs typeface="Segoe UI"/>
              </a:rPr>
              <a:t>public static int exampleMethod(int inputValue) {​</a:t>
            </a:r>
          </a:p>
          <a:p>
            <a:pPr rtl="0"/>
            <a:r>
              <a:rPr lang="en-US">
                <a:solidFill>
                  <a:srgbClr val="008000"/>
                </a:solidFill>
                <a:latin typeface="Consolas"/>
                <a:ea typeface="Segoe UI"/>
                <a:cs typeface="Segoe UI"/>
              </a:rPr>
              <a:t>//WRITE YOUR CODE HERE</a:t>
            </a:r>
            <a:r>
              <a:rPr lang="en-US">
                <a:latin typeface="Consolas"/>
                <a:ea typeface="Segoe UI"/>
                <a:cs typeface="Segoe UI"/>
              </a:rPr>
              <a:t>​</a:t>
            </a:r>
          </a:p>
          <a:p>
            <a:pPr rtl="0"/>
            <a:r>
              <a:rPr lang="en-US">
                <a:latin typeface="Arial"/>
                <a:ea typeface="Segoe UI"/>
                <a:cs typeface="Segoe UI"/>
              </a:rPr>
              <a:t>​</a:t>
            </a:r>
          </a:p>
          <a:p>
            <a:pPr rtl="0"/>
            <a:r>
              <a:rPr lang="en-US">
                <a:latin typeface="Arial"/>
                <a:ea typeface="Segoe UI"/>
                <a:cs typeface="Segoe UI"/>
              </a:rPr>
              <a:t>​</a:t>
            </a:r>
          </a:p>
          <a:p>
            <a:pPr rtl="0"/>
            <a:r>
              <a:rPr lang="en-US" b="1">
                <a:solidFill>
                  <a:srgbClr val="474C55"/>
                </a:solidFill>
                <a:latin typeface="Arial"/>
                <a:ea typeface="Segoe UI"/>
                <a:cs typeface="Segoe UI"/>
              </a:rPr>
              <a:t>}</a:t>
            </a:r>
            <a:r>
              <a:rPr lang="en-US">
                <a:latin typeface="Arial"/>
                <a:ea typeface="Segoe UI"/>
                <a:cs typeface="Segoe UI"/>
              </a:rPr>
              <a:t>​</a:t>
            </a:r>
          </a:p>
          <a:p>
            <a:pPr rtl="0"/>
            <a:r>
              <a:rPr lang="en-US">
                <a:solidFill>
                  <a:srgbClr val="008000"/>
                </a:solidFill>
                <a:latin typeface="Consolas"/>
                <a:ea typeface="Segoe UI"/>
                <a:cs typeface="Segoe UI"/>
              </a:rPr>
              <a:t>//DO NOT TOUCH THE CODE BELOW</a:t>
            </a:r>
            <a:r>
              <a:rPr lang="en-US">
                <a:latin typeface="Consolas"/>
                <a:ea typeface="Segoe UI"/>
                <a:cs typeface="Segoe UI"/>
              </a:rPr>
              <a:t>​</a:t>
            </a:r>
            <a:endParaRPr lang="en-US"/>
          </a:p>
        </p:txBody>
      </p:sp>
      <p:pic>
        <p:nvPicPr>
          <p:cNvPr id="6" name="Picture 6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134394F7-9030-A617-22B3-3F8D2A68B7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4776" y="1501790"/>
            <a:ext cx="3273653" cy="1056910"/>
          </a:xfrm>
          <a:prstGeom prst="rect">
            <a:avLst/>
          </a:prstGeom>
        </p:spPr>
      </p:pic>
      <p:pic>
        <p:nvPicPr>
          <p:cNvPr id="7" name="Picture 7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0487BA07-33FE-309F-B809-2EBFA299E6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4776" y="2722031"/>
            <a:ext cx="3172614" cy="1016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4332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BD1E9-3AB5-1FED-1D2D-7E195805A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Coding Challenges - Guidelines</a:t>
            </a:r>
            <a:endParaRPr lang="en-US" b="0">
              <a:solidFill>
                <a:srgbClr val="0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42ABFE-B5F9-C7A6-76F2-956887956D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217678"/>
            <a:ext cx="8438932" cy="4472903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  <a:spcBef>
                <a:spcPts val="200"/>
              </a:spcBef>
            </a:pPr>
            <a:r>
              <a:rPr lang="en-US" sz="2000"/>
              <a:t>Do not click away from the test window - this is counted as a window violation</a:t>
            </a:r>
          </a:p>
          <a:p>
            <a:pPr>
              <a:lnSpc>
                <a:spcPct val="110000"/>
              </a:lnSpc>
              <a:spcBef>
                <a:spcPts val="200"/>
              </a:spcBef>
            </a:pPr>
            <a:endParaRPr lang="en-US" sz="2000"/>
          </a:p>
          <a:p>
            <a:pPr>
              <a:lnSpc>
                <a:spcPct val="110000"/>
              </a:lnSpc>
              <a:spcBef>
                <a:spcPts val="200"/>
              </a:spcBef>
            </a:pPr>
            <a:r>
              <a:rPr lang="en-US" sz="2000"/>
              <a:t>The system will record window violations and we will not count your score if this is detected</a:t>
            </a:r>
          </a:p>
          <a:p>
            <a:pPr>
              <a:lnSpc>
                <a:spcPct val="110000"/>
              </a:lnSpc>
              <a:spcBef>
                <a:spcPts val="200"/>
              </a:spcBef>
            </a:pPr>
            <a:endParaRPr lang="en-US" sz="2000"/>
          </a:p>
          <a:p>
            <a:pPr>
              <a:lnSpc>
                <a:spcPct val="110000"/>
              </a:lnSpc>
              <a:spcBef>
                <a:spcPts val="200"/>
              </a:spcBef>
            </a:pPr>
            <a:r>
              <a:rPr lang="en-US" sz="2000"/>
              <a:t>Take your time to fully read the prompt and think through your solution</a:t>
            </a:r>
          </a:p>
          <a:p>
            <a:pPr>
              <a:lnSpc>
                <a:spcPct val="110000"/>
              </a:lnSpc>
              <a:spcBef>
                <a:spcPts val="200"/>
              </a:spcBef>
            </a:pPr>
            <a:endParaRPr lang="en-US" sz="2000"/>
          </a:p>
          <a:p>
            <a:pPr>
              <a:lnSpc>
                <a:spcPct val="110000"/>
              </a:lnSpc>
              <a:spcBef>
                <a:spcPts val="200"/>
              </a:spcBef>
            </a:pPr>
            <a:r>
              <a:rPr lang="en-US" sz="2000"/>
              <a:t>You will not be allowed to copy/paste any text or code</a:t>
            </a:r>
          </a:p>
          <a:p>
            <a:pPr>
              <a:lnSpc>
                <a:spcPct val="110000"/>
              </a:lnSpc>
              <a:spcBef>
                <a:spcPts val="200"/>
              </a:spcBef>
            </a:pPr>
            <a:endParaRPr lang="en-US" sz="2000"/>
          </a:p>
          <a:p>
            <a:pPr>
              <a:lnSpc>
                <a:spcPct val="110000"/>
              </a:lnSpc>
              <a:spcBef>
                <a:spcPts val="200"/>
              </a:spcBef>
            </a:pPr>
            <a:r>
              <a:rPr lang="en-US" sz="2000"/>
              <a:t>If you violate the policy, we will assign an alternate challenge to complete</a:t>
            </a:r>
          </a:p>
          <a:p>
            <a:endParaRPr lang="en-US" sz="2000"/>
          </a:p>
          <a:p>
            <a:pPr marL="50800" indent="0">
              <a:buNone/>
            </a:pPr>
            <a:endParaRPr lang="en-US" sz="24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8E7C0B-FD55-51E8-A7F9-166F4E3BED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pic>
        <p:nvPicPr>
          <p:cNvPr id="5" name="Picture 4" descr="A close up of text&#10;&#10;Description automatically generated">
            <a:extLst>
              <a:ext uri="{FF2B5EF4-FFF2-40B4-BE49-F238E27FC236}">
                <a16:creationId xmlns:a16="http://schemas.microsoft.com/office/drawing/2014/main" id="{D9CD5675-AE15-DAB3-01D5-9F764DD5E1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10" y="5593372"/>
            <a:ext cx="7163533" cy="113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1167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BD1E9-3AB5-1FED-1D2D-7E195805A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Quizzes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42ABFE-B5F9-C7A6-76F2-956887956D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890540"/>
          </a:xfrm>
        </p:spPr>
        <p:txBody>
          <a:bodyPr>
            <a:normAutofit fontScale="92500" lnSpcReduction="10000"/>
          </a:bodyPr>
          <a:lstStyle/>
          <a:p>
            <a:r>
              <a:rPr lang="en-US" sz="2400"/>
              <a:t>There are 2 types of quizzes you will (potentially) take through the </a:t>
            </a:r>
            <a:r>
              <a:rPr lang="en-US" sz="2400" err="1"/>
              <a:t>RevaturePro</a:t>
            </a:r>
            <a:r>
              <a:rPr lang="en-US" sz="2400"/>
              <a:t> platform:</a:t>
            </a:r>
          </a:p>
          <a:p>
            <a:pPr lvl="1"/>
            <a:r>
              <a:rPr lang="en-US" sz="2000"/>
              <a:t>Unit quizzes to help you practice mastery of the topics from the previous week (not used for formal grading – just for practice)</a:t>
            </a:r>
          </a:p>
          <a:p>
            <a:pPr lvl="1"/>
            <a:r>
              <a:rPr lang="en-US" sz="2000"/>
              <a:t>Competency exams to check your total mastery of a given competency (formally graded)</a:t>
            </a:r>
          </a:p>
          <a:p>
            <a:pPr marL="533400" lvl="1" indent="0">
              <a:buNone/>
            </a:pPr>
            <a:endParaRPr lang="en-US" sz="2000"/>
          </a:p>
          <a:p>
            <a:r>
              <a:rPr lang="en-US" sz="2400"/>
              <a:t>Performance evaluation will be based on:</a:t>
            </a:r>
          </a:p>
          <a:p>
            <a:pPr lvl="1"/>
            <a:r>
              <a:rPr lang="en-US" sz="2000"/>
              <a:t>Your percentage score</a:t>
            </a:r>
          </a:p>
          <a:p>
            <a:pPr lvl="2"/>
            <a:r>
              <a:rPr lang="en-US" sz="1800"/>
              <a:t>The QC team specifically uses the Competency Exam scores for our own internal reporting, so use the unit quizzes to help prepare for those</a:t>
            </a:r>
          </a:p>
          <a:p>
            <a:pPr marL="1016000" lvl="2" indent="0">
              <a:buNone/>
            </a:pPr>
            <a:endParaRPr lang="en-US" sz="1800"/>
          </a:p>
          <a:p>
            <a:r>
              <a:rPr lang="en-US" sz="2400"/>
              <a:t>Unit quizzes will be scheduled after completing content for that unit; competency exams will be scheduled at the end of the competency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8E7C0B-FD55-51E8-A7F9-166F4E3BED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6953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BD1E9-3AB5-1FED-1D2D-7E195805A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Review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42ABFE-B5F9-C7A6-76F2-956887956D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549484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For specific projects that you complete in training, the QC team will assist your trainer to evaluate them</a:t>
            </a:r>
          </a:p>
          <a:p>
            <a:pPr marL="533400" lvl="1" indent="0">
              <a:buNone/>
            </a:pPr>
            <a:endParaRPr lang="en-US"/>
          </a:p>
          <a:p>
            <a:r>
              <a:rPr lang="en-US"/>
              <a:t>Performance evaluation will be based on:</a:t>
            </a:r>
          </a:p>
          <a:p>
            <a:pPr lvl="1"/>
            <a:r>
              <a:rPr lang="en-US"/>
              <a:t>Your ability to complete all requirements for the project</a:t>
            </a:r>
          </a:p>
          <a:p>
            <a:pPr lvl="1"/>
            <a:r>
              <a:rPr lang="en-US"/>
              <a:t>Your ability to effectively present your work in a presentation style</a:t>
            </a:r>
          </a:p>
          <a:p>
            <a:pPr marL="533400" lvl="1" indent="0">
              <a:buNone/>
            </a:pPr>
            <a:endParaRPr lang="en-US"/>
          </a:p>
          <a:p>
            <a:r>
              <a:rPr lang="en-US"/>
              <a:t>Project due dates will be communicated to you from your trainer since every technology track has slightly different project scheduling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8E7C0B-FD55-51E8-A7F9-166F4E3BED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5646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F42E9-FB86-F308-CDA4-FFFE9E580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Cheating/Plagiarism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D6E41A-2A85-C75D-2A89-304D66BC8E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The following are examples of cheating/plagiarism:</a:t>
            </a:r>
          </a:p>
          <a:p>
            <a:pPr lvl="1">
              <a:buSzPts val="2800"/>
            </a:pPr>
            <a:r>
              <a:rPr lang="en-US"/>
              <a:t>Quality Audit</a:t>
            </a:r>
          </a:p>
          <a:p>
            <a:pPr lvl="2">
              <a:buSzPts val="2800"/>
            </a:pPr>
            <a:r>
              <a:rPr lang="en-US"/>
              <a:t>looking at notes or looking up material while being asked questions</a:t>
            </a:r>
          </a:p>
          <a:p>
            <a:pPr lvl="1">
              <a:buSzPts val="2800"/>
            </a:pPr>
            <a:r>
              <a:rPr lang="en-US"/>
              <a:t>Coding Challenge</a:t>
            </a:r>
          </a:p>
          <a:p>
            <a:pPr lvl="2">
              <a:buSzPts val="2800"/>
            </a:pPr>
            <a:r>
              <a:rPr lang="en-US"/>
              <a:t>looking up answers for the problem</a:t>
            </a:r>
          </a:p>
          <a:p>
            <a:pPr lvl="2">
              <a:buSzPts val="2800"/>
            </a:pPr>
            <a:r>
              <a:rPr lang="en-US"/>
              <a:t>switching away from test window during the challenge</a:t>
            </a:r>
          </a:p>
          <a:p>
            <a:pPr lvl="1">
              <a:buSzPts val="2800"/>
            </a:pPr>
            <a:r>
              <a:rPr lang="en-US"/>
              <a:t>Quiz / Exam</a:t>
            </a:r>
          </a:p>
          <a:p>
            <a:pPr lvl="2">
              <a:buSzPts val="2800"/>
            </a:pPr>
            <a:r>
              <a:rPr lang="en-US"/>
              <a:t>looking at notes or looking up material during a quiz</a:t>
            </a:r>
          </a:p>
          <a:p>
            <a:pPr lvl="1">
              <a:buSzPts val="2800"/>
            </a:pPr>
            <a:r>
              <a:rPr lang="en-US"/>
              <a:t>Project</a:t>
            </a:r>
          </a:p>
          <a:p>
            <a:pPr lvl="2">
              <a:buSzPts val="2800"/>
            </a:pPr>
            <a:r>
              <a:rPr lang="en-US"/>
              <a:t>copying someone else's </a:t>
            </a:r>
            <a:r>
              <a:rPr lang="en-US" b="1"/>
              <a:t>unique</a:t>
            </a:r>
            <a:r>
              <a:rPr lang="en-US"/>
              <a:t> code without attribution</a:t>
            </a:r>
          </a:p>
          <a:p>
            <a:pPr lvl="2">
              <a:buSzPts val="2800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2FC778-C7C6-4C1F-976D-548C25558C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1648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E045A-B5B6-FC7D-9F10-41C4045B7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Feedback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0326EA-999F-E586-AB05-F6D768A25C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743613"/>
          </a:xfrm>
        </p:spPr>
        <p:txBody>
          <a:bodyPr>
            <a:normAutofit fontScale="92500" lnSpcReduction="10000"/>
          </a:bodyPr>
          <a:lstStyle/>
          <a:p>
            <a:pPr marL="50800" indent="0" algn="ctr">
              <a:buNone/>
            </a:pPr>
            <a:r>
              <a:rPr lang="en-US" b="1"/>
              <a:t>How will I get feedback on performance? </a:t>
            </a:r>
          </a:p>
          <a:p>
            <a:endParaRPr lang="en-US"/>
          </a:p>
          <a:p>
            <a:r>
              <a:rPr lang="en-US"/>
              <a:t>The best place to get overall feedback is from your trainer – feel free to ask for direct feedback</a:t>
            </a:r>
          </a:p>
          <a:p>
            <a:endParaRPr lang="en-US"/>
          </a:p>
          <a:p>
            <a:r>
              <a:rPr lang="en-US"/>
              <a:t>The QC auditor may give general feedback/advice depending on time constraints</a:t>
            </a:r>
          </a:p>
          <a:p>
            <a:endParaRPr lang="en-US"/>
          </a:p>
          <a:p>
            <a:r>
              <a:rPr lang="en-US"/>
              <a:t>If you're not told directly you need to improve in your assessments, then you are most likely keeping up to internal metrics we expect</a:t>
            </a:r>
          </a:p>
          <a:p>
            <a:endParaRPr lang="en-US"/>
          </a:p>
          <a:p>
            <a:pPr lvl="1"/>
            <a:endParaRPr lang="en-US"/>
          </a:p>
          <a:p>
            <a:pPr lvl="1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7C6AE5-603B-584F-60E0-7D5F69C0055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9446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B2E02-A2E9-F683-7921-C342722F5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Poor Performance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B45595-B836-9881-96B3-E10582E1B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3782701"/>
          </a:xfrm>
        </p:spPr>
        <p:txBody>
          <a:bodyPr>
            <a:normAutofit fontScale="92500" lnSpcReduction="20000"/>
          </a:bodyPr>
          <a:lstStyle/>
          <a:p>
            <a:pPr marL="50800" indent="0" algn="ctr">
              <a:buNone/>
            </a:pPr>
            <a:r>
              <a:rPr lang="en-US" b="1"/>
              <a:t>What happens if I do poorly in an evaluation? </a:t>
            </a:r>
          </a:p>
          <a:p>
            <a:endParaRPr lang="en-US"/>
          </a:p>
          <a:p>
            <a:r>
              <a:rPr lang="en-US" sz="2400"/>
              <a:t>If you fail one evaluation, you can still improve your scores by doing well on other types of evaluations.</a:t>
            </a:r>
            <a:endParaRPr lang="en-US"/>
          </a:p>
          <a:p>
            <a:endParaRPr lang="en-US" sz="2400"/>
          </a:p>
          <a:p>
            <a:r>
              <a:rPr lang="en-US" sz="2400"/>
              <a:t>You will be assessed often, and your overall performance/trend is what matters.</a:t>
            </a:r>
          </a:p>
          <a:p>
            <a:endParaRPr lang="en-US" sz="2400"/>
          </a:p>
          <a:p>
            <a:r>
              <a:rPr lang="en-US" sz="2400"/>
              <a:t>If you perform poorly on a competency, you will have a chance to be re-evaluated and improve in a cumulative session at the end of training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420BF8-A503-E4B1-4C59-1B320618979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2283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6FE3-C3F8-BBF7-2819-4ADF02746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To Prepare?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71D6D8-74F2-7107-D6C2-43158DBBFC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593873"/>
            <a:ext cx="8383980" cy="4813272"/>
          </a:xfrm>
        </p:spPr>
        <p:txBody>
          <a:bodyPr>
            <a:normAutofit fontScale="70000" lnSpcReduction="20000"/>
          </a:bodyPr>
          <a:lstStyle/>
          <a:p>
            <a:pPr marL="50800" indent="0" algn="ctr">
              <a:buNone/>
            </a:pPr>
            <a:r>
              <a:rPr lang="en-US" b="1"/>
              <a:t>How can I better prepare for QC Assessments?</a:t>
            </a:r>
          </a:p>
          <a:p>
            <a:endParaRPr lang="en-US"/>
          </a:p>
          <a:p>
            <a:r>
              <a:rPr lang="en-US" b="1"/>
              <a:t>Review</a:t>
            </a:r>
            <a:r>
              <a:rPr lang="en-US"/>
              <a:t> all the topics </a:t>
            </a:r>
            <a:r>
              <a:rPr lang="en-US" u="sng"/>
              <a:t>regularly</a:t>
            </a:r>
            <a:r>
              <a:rPr lang="en-US"/>
              <a:t>!!!</a:t>
            </a:r>
          </a:p>
          <a:p>
            <a:pPr lvl="1"/>
            <a:r>
              <a:rPr lang="en-US"/>
              <a:t>All assessments are based on the </a:t>
            </a:r>
            <a:r>
              <a:rPr lang="en-US" err="1"/>
              <a:t>RevaturePro</a:t>
            </a:r>
            <a:r>
              <a:rPr lang="en-US"/>
              <a:t> curricula that is assigned to you</a:t>
            </a:r>
          </a:p>
          <a:p>
            <a:pPr lvl="1"/>
            <a:endParaRPr lang="en-US"/>
          </a:p>
          <a:p>
            <a:r>
              <a:rPr lang="en-US" b="1"/>
              <a:t>Practice</a:t>
            </a:r>
            <a:r>
              <a:rPr lang="en-US"/>
              <a:t> all the topics (code/say them)</a:t>
            </a:r>
          </a:p>
          <a:p>
            <a:pPr lvl="1"/>
            <a:r>
              <a:rPr lang="en-US"/>
              <a:t>Adapt given examples and create your own examples</a:t>
            </a:r>
          </a:p>
          <a:p>
            <a:pPr lvl="1"/>
            <a:r>
              <a:rPr lang="en-US"/>
              <a:t>Quiz each other on concepts to keep sharp</a:t>
            </a:r>
          </a:p>
          <a:p>
            <a:pPr lvl="1"/>
            <a:endParaRPr lang="en-US"/>
          </a:p>
          <a:p>
            <a:pPr lvl="1"/>
            <a:endParaRPr lang="en-US"/>
          </a:p>
          <a:p>
            <a:r>
              <a:rPr lang="en-US"/>
              <a:t>There will be a cumulative QC audit at the end of training covering all topics. We will target the weakest areas so that you can improve on them.</a:t>
            </a:r>
          </a:p>
          <a:p>
            <a:endParaRPr lang="en-US"/>
          </a:p>
          <a:p>
            <a:r>
              <a:rPr lang="en-US"/>
              <a:t>Practice makes Permanent!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48C913-B635-76D0-A2EF-D3BFA4BE999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981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/>
              <a:t>Tips for Training</a:t>
            </a:r>
            <a:endParaRPr/>
          </a:p>
        </p:txBody>
      </p:sp>
      <p:sp>
        <p:nvSpPr>
          <p:cNvPr id="280" name="Google Shape;280;p4"/>
          <p:cNvSpPr txBox="1">
            <a:spLocks noGrp="1"/>
          </p:cNvSpPr>
          <p:nvPr>
            <p:ph type="body" idx="1"/>
          </p:nvPr>
        </p:nvSpPr>
        <p:spPr>
          <a:xfrm>
            <a:off x="380010" y="1481446"/>
            <a:ext cx="8383980" cy="4986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342900" lvl="0" indent="-317500" algn="l" rtl="0">
              <a:spcBef>
                <a:spcPts val="56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Be curious - ASK QUESTIONS</a:t>
            </a:r>
          </a:p>
          <a:p>
            <a:pPr lvl="1"/>
            <a:r>
              <a:rPr lang="en-US" sz="2000"/>
              <a:t>Especially if you are not sure what to do or when to do it</a:t>
            </a:r>
          </a:p>
          <a:p>
            <a:pPr marL="342900" indent="-317500">
              <a:buSzPts val="2400"/>
            </a:pPr>
            <a:endParaRPr lang="en-US" sz="2400"/>
          </a:p>
          <a:p>
            <a:pPr marL="342900" lvl="0" indent="-317500" algn="l" rtl="0">
              <a:spcBef>
                <a:spcPts val="56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Practice, practice, practice</a:t>
            </a:r>
          </a:p>
          <a:p>
            <a:pPr marL="342900" lvl="0" indent="-317500" algn="l" rtl="0">
              <a:spcBef>
                <a:spcPts val="560"/>
              </a:spcBef>
              <a:spcAft>
                <a:spcPts val="0"/>
              </a:spcAft>
              <a:buSzPts val="2400"/>
              <a:buChar char="•"/>
            </a:pPr>
            <a:endParaRPr sz="2400"/>
          </a:p>
          <a:p>
            <a:pPr marL="342900" lvl="0" indent="-317500" algn="l" rtl="0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Learn </a:t>
            </a:r>
            <a:r>
              <a:rPr lang="en-US" sz="2400" u="sng"/>
              <a:t>HOW</a:t>
            </a:r>
            <a:r>
              <a:rPr lang="en-US" sz="2400"/>
              <a:t> to Debug</a:t>
            </a:r>
          </a:p>
          <a:p>
            <a:pPr marL="342900" lvl="0" indent="-317500" algn="l" rtl="0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endParaRPr sz="2400"/>
          </a:p>
          <a:p>
            <a:pPr marL="342900" lvl="0" indent="-317500" algn="l" rtl="0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Coding: Plan first, write second</a:t>
            </a:r>
          </a:p>
          <a:p>
            <a:pPr marL="342900" lvl="0" indent="-317500" algn="l">
              <a:spcBef>
                <a:spcPts val="0"/>
              </a:spcBef>
              <a:spcAft>
                <a:spcPts val="0"/>
              </a:spcAft>
              <a:buSzPts val="2400"/>
            </a:pPr>
            <a:endParaRPr lang="en-US" sz="2400"/>
          </a:p>
          <a:p>
            <a:pPr marL="342900" indent="-317500">
              <a:spcBef>
                <a:spcPts val="0"/>
              </a:spcBef>
              <a:buSzPts val="2400"/>
              <a:buFont typeface="Arial,Sans-Serif"/>
            </a:pPr>
            <a:r>
              <a:rPr lang="en-US" sz="2400"/>
              <a:t>Speak with Precision</a:t>
            </a:r>
          </a:p>
          <a:p>
            <a:pPr lvl="1">
              <a:spcBef>
                <a:spcPts val="0"/>
              </a:spcBef>
              <a:buSzPts val="2400"/>
              <a:buFont typeface="Arial,Sans-Serif"/>
            </a:pPr>
            <a:r>
              <a:rPr lang="en-US" sz="1800"/>
              <a:t>Use technical language</a:t>
            </a:r>
          </a:p>
          <a:p>
            <a:pPr lvl="1">
              <a:spcBef>
                <a:spcPts val="0"/>
              </a:spcBef>
              <a:buSzPts val="2400"/>
              <a:buFont typeface="Arial,Sans-Serif"/>
            </a:pPr>
            <a:r>
              <a:rPr lang="en-US" sz="1800"/>
              <a:t>Practice saying your answers OUT LOUD!</a:t>
            </a:r>
          </a:p>
          <a:p>
            <a:pPr lvl="1">
              <a:spcBef>
                <a:spcPts val="0"/>
              </a:spcBef>
              <a:buFont typeface="Arial,Sans-Serif"/>
              <a:buChar char="–"/>
            </a:pPr>
            <a:r>
              <a:rPr lang="en-US" sz="1800"/>
              <a:t>Be picky with yourself and your word choice</a:t>
            </a:r>
          </a:p>
          <a:p>
            <a:pPr marL="342900" indent="-317500">
              <a:spcBef>
                <a:spcPts val="0"/>
              </a:spcBef>
              <a:buSzPts val="2400"/>
            </a:pPr>
            <a:endParaRPr lang="en-US" sz="2400"/>
          </a:p>
          <a:p>
            <a:pPr marL="342900" indent="-317500">
              <a:spcBef>
                <a:spcPts val="0"/>
              </a:spcBef>
              <a:buSzPts val="2400"/>
            </a:pPr>
            <a:r>
              <a:rPr lang="en-US" sz="2400"/>
              <a:t>If you can write the code, you should be able to talk about it, and vice versa.</a:t>
            </a:r>
          </a:p>
          <a:p>
            <a:pPr marL="800100" lvl="1" indent="-317500">
              <a:spcBef>
                <a:spcPts val="0"/>
              </a:spcBef>
            </a:pPr>
            <a:r>
              <a:rPr lang="en-US" sz="1800"/>
              <a:t>The perfect balance towards acing the interview</a:t>
            </a:r>
          </a:p>
        </p:txBody>
      </p:sp>
      <p:sp>
        <p:nvSpPr>
          <p:cNvPr id="281" name="Google Shape;281;p4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dirty="0"/>
              <a:t>17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5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287" name="Google Shape;287;p5"/>
          <p:cNvSpPr txBox="1">
            <a:spLocks noGrp="1"/>
          </p:cNvSpPr>
          <p:nvPr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>
                <a:solidFill>
                  <a:schemeClr val="accent1"/>
                </a:solidFill>
              </a:rPr>
              <a:t>Questions and Answers</a:t>
            </a:r>
            <a:endParaRPr/>
          </a:p>
          <a:p>
            <a:pPr marL="0" lvl="0" indent="0" algn="ctr" rtl="0">
              <a:spcBef>
                <a:spcPts val="56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sp>
        <p:nvSpPr>
          <p:cNvPr id="288" name="Google Shape;288;p5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pic>
        <p:nvPicPr>
          <p:cNvPr id="289" name="Google Shape;28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04857" y="2061275"/>
            <a:ext cx="3897824" cy="3897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2_Custom Design">
  <a:themeElements>
    <a:clrScheme name="Revature">
      <a:dk1>
        <a:srgbClr val="000000"/>
      </a:dk1>
      <a:lt1>
        <a:srgbClr val="FFFFFF"/>
      </a:lt1>
      <a:dk2>
        <a:srgbClr val="474C55"/>
      </a:dk2>
      <a:lt2>
        <a:srgbClr val="F2F2F2"/>
      </a:lt2>
      <a:accent1>
        <a:srgbClr val="F36A25"/>
      </a:accent1>
      <a:accent2>
        <a:srgbClr val="A0A1A0"/>
      </a:accent2>
      <a:accent3>
        <a:srgbClr val="474C55"/>
      </a:accent3>
      <a:accent4>
        <a:srgbClr val="F7A528"/>
      </a:accent4>
      <a:accent5>
        <a:srgbClr val="73A5C2"/>
      </a:accent5>
      <a:accent6>
        <a:srgbClr val="F36A25"/>
      </a:accent6>
      <a:hlink>
        <a:srgbClr val="F36A25"/>
      </a:hlink>
      <a:folHlink>
        <a:srgbClr val="F36A2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3a34450-7e14-4d32-8687-1b1af28a116e" xsi:nil="true"/>
    <lcf76f155ced4ddcb4097134ff3c332f xmlns="ce63a586-69a1-44f4-bae8-9087d866d9f3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7A2A03BFD96074FA414F38372D2D963" ma:contentTypeVersion="17" ma:contentTypeDescription="Create a new document." ma:contentTypeScope="" ma:versionID="0bf7c49cbf54c95320c886b1a704d29f">
  <xsd:schema xmlns:xsd="http://www.w3.org/2001/XMLSchema" xmlns:xs="http://www.w3.org/2001/XMLSchema" xmlns:p="http://schemas.microsoft.com/office/2006/metadata/properties" xmlns:ns2="ce63a586-69a1-44f4-bae8-9087d866d9f3" xmlns:ns3="33a34450-7e14-4d32-8687-1b1af28a116e" targetNamespace="http://schemas.microsoft.com/office/2006/metadata/properties" ma:root="true" ma:fieldsID="cc39aacaad77c626238a9eff4528b825" ns2:_="" ns3:_="">
    <xsd:import namespace="ce63a586-69a1-44f4-bae8-9087d866d9f3"/>
    <xsd:import namespace="33a34450-7e14-4d32-8687-1b1af28a116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63a586-69a1-44f4-bae8-9087d866d9f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7c4358da-3780-45bf-91e2-d742a5320e2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a34450-7e14-4d32-8687-1b1af28a116e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0cf76187-351a-4bb6-9133-7760edeb254b}" ma:internalName="TaxCatchAll" ma:showField="CatchAllData" ma:web="33a34450-7e14-4d32-8687-1b1af28a116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27BD7D3-53F2-4DBA-93EF-3D77A7C22689}">
  <ds:schemaRefs>
    <ds:schemaRef ds:uri="33a34450-7e14-4d32-8687-1b1af28a116e"/>
    <ds:schemaRef ds:uri="ce63a586-69a1-44f4-bae8-9087d866d9f3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6DCF26C9-C99C-4E45-B655-ED30F7581B5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63B4CE9-0DA1-4C32-ABAC-2CFE806C028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e63a586-69a1-44f4-bae8-9087d866d9f3"/>
    <ds:schemaRef ds:uri="33a34450-7e14-4d32-8687-1b1af28a116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19</Slides>
  <Notes>16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2_Custom Design</vt:lpstr>
      <vt:lpstr>QC Orientation</vt:lpstr>
      <vt:lpstr>What is QC?</vt:lpstr>
      <vt:lpstr>Quality Audits</vt:lpstr>
      <vt:lpstr>Quality Audit Demo</vt:lpstr>
      <vt:lpstr>Quality Audit Demo</vt:lpstr>
      <vt:lpstr>Quality Audit Demo</vt:lpstr>
      <vt:lpstr>Quality Audit Demo</vt:lpstr>
      <vt:lpstr>Quality Audit Demo</vt:lpstr>
      <vt:lpstr>Coding Challenges</vt:lpstr>
      <vt:lpstr>Coding Challenges - Guidelines</vt:lpstr>
      <vt:lpstr>Coding Challenges - Guidelines</vt:lpstr>
      <vt:lpstr>Quizzes</vt:lpstr>
      <vt:lpstr>Project Review</vt:lpstr>
      <vt:lpstr>Cheating/Plagiarism</vt:lpstr>
      <vt:lpstr>Feedback</vt:lpstr>
      <vt:lpstr>Poor Performance</vt:lpstr>
      <vt:lpstr>What To Prepare?</vt:lpstr>
      <vt:lpstr>Tips for Training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Bootcamp Orientation</dc:title>
  <dc:creator>account 10</dc:creator>
  <cp:revision>12</cp:revision>
  <dcterms:created xsi:type="dcterms:W3CDTF">2016-11-09T18:19:08Z</dcterms:created>
  <dcterms:modified xsi:type="dcterms:W3CDTF">2026-09-02T08:54:07Z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0x01010097A2A03BFD96074FA414F38372D2D963</vt:lpwstr>
  </property>
  <property fmtid="{D5CDD505-2E9C-101B-9397-08002B2CF9AE}" pid="3" name="MediaServiceImageTags">
    <vt:lpwstr/>
  </property>
</Properties>
</file>